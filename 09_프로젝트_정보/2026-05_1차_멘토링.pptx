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4" r:id="rId2"/>
    <p:sldId id="275" r:id="rId3"/>
    <p:sldId id="425" r:id="rId4"/>
    <p:sldId id="426" r:id="rId5"/>
    <p:sldId id="427" r:id="rId6"/>
    <p:sldId id="433" r:id="rId7"/>
    <p:sldId id="428" r:id="rId8"/>
    <p:sldId id="432" r:id="rId9"/>
    <p:sldId id="429" r:id="rId10"/>
    <p:sldId id="430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301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C56F5-8248-4721-A7CC-58BABF6C4EDD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30C1A-89A2-4023-8E62-8F20B7A2E0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623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4A3F1-D9D6-5C0C-1472-79D4615CE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2A4BF3-D27B-602D-1BC4-FB3255863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E14EFE-5A93-9AF9-E252-D5BFBE067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﻿현재 서비스는 공식 법령정보를 제공한다는 강점이 있지만</a:t>
            </a:r>
            <a:r>
              <a:rPr lang="en-US" altLang="ko-KR"/>
              <a:t>, </a:t>
            </a:r>
            <a:r>
              <a:rPr lang="ko-KR" altLang="en-US"/>
              <a:t>사용자가 정확한 키워드와 분류를 알고 있어야 한다는 구조적 한계가 있습니다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42DA33-ADCD-ED9A-623A-39B194FA2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221D-B50D-448D-9A89-2BFE9D15282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331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5E41E-087C-D5C2-D6FE-6FF8E57A4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CEE9B4-0B97-C346-6217-019C8B472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AB9D14-8A87-A40C-DFED-B74B6A44E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﻿현재 서비스는 공식 법령정보를 제공한다는 강점이 있지만</a:t>
            </a:r>
            <a:r>
              <a:rPr lang="en-US" altLang="ko-KR"/>
              <a:t>, </a:t>
            </a:r>
            <a:r>
              <a:rPr lang="ko-KR" altLang="en-US"/>
              <a:t>사용자가 정확한 키워드와 분류를 알고 있어야 한다는 구조적 한계가 있습니다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E7BB3C-7504-D8F3-9641-A045CEA53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221D-B50D-448D-9A89-2BFE9D15282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285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C940E-0E0E-B507-D208-231A770C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EA2B3F-ECBB-8041-79E9-DD0FC27C1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A07E0F-7EFD-1E32-B777-24D55E68A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﻿현재 서비스는 공식 법령정보를 제공한다는 강점이 있지만</a:t>
            </a:r>
            <a:r>
              <a:rPr lang="en-US" altLang="ko-KR"/>
              <a:t>, </a:t>
            </a:r>
            <a:r>
              <a:rPr lang="ko-KR" altLang="en-US"/>
              <a:t>사용자가 정확한 키워드와 분류를 알고 있어야 한다는 구조적 한계가 있습니다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075AA8-4F29-DB5F-898D-C9AD8B76F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221D-B50D-448D-9A89-2BFE9D15282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444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3A5B7-165B-C5B5-D6C9-E4C0D897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4608E9-080F-605B-6B26-DBADE20CC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D25EE9-49A2-B2DD-E27C-7AFF68E00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﻿현재 서비스는 공식 법령정보를 제공한다는 강점이 있지만</a:t>
            </a:r>
            <a:r>
              <a:rPr lang="en-US" altLang="ko-KR"/>
              <a:t>, </a:t>
            </a:r>
            <a:r>
              <a:rPr lang="ko-KR" altLang="en-US"/>
              <a:t>사용자가 정확한 키워드와 분류를 알고 있어야 한다는 구조적 한계가 있습니다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66C053-CEB2-F6E9-3911-E736AD1A7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221D-B50D-448D-9A89-2BFE9D15282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14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791DA-5281-7080-BCDA-1C8E9368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AD453E-4978-EF86-C12E-29458FF18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235062-55D9-1F1A-CDF2-C90ED51FF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﻿현재 서비스는 공식 법령정보를 제공한다는 강점이 있지만</a:t>
            </a:r>
            <a:r>
              <a:rPr lang="en-US" altLang="ko-KR"/>
              <a:t>, </a:t>
            </a:r>
            <a:r>
              <a:rPr lang="ko-KR" altLang="en-US"/>
              <a:t>사용자가 정확한 키워드와 분류를 알고 있어야 한다는 구조적 한계가 있습니다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71AE0C-B1D0-5B53-B67C-55F2C0CF9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221D-B50D-448D-9A89-2BFE9D15282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376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12441-A9DB-2C15-FCCA-0CC40F901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F17811-A834-55A3-C6B9-31EBCB064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847321-2C26-CD10-429D-2DD042916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﻿현재 서비스는 공식 법령정보를 제공한다는 강점이 있지만</a:t>
            </a:r>
            <a:r>
              <a:rPr lang="en-US" altLang="ko-KR"/>
              <a:t>, </a:t>
            </a:r>
            <a:r>
              <a:rPr lang="ko-KR" altLang="en-US"/>
              <a:t>사용자가 정확한 키워드와 분류를 알고 있어야 한다는 구조적 한계가 있습니다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A70E25-F0B4-D590-6BA7-CEFEB733D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221D-B50D-448D-9A89-2BFE9D15282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500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C2DDD-FDC0-328C-1049-C010EFB7F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BD51E5-292F-D7D1-E238-D6B6C7FE5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E122CA-9B71-1D66-9685-6A0DEFBB2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﻿현재 서비스는 공식 법령정보를 제공한다는 강점이 있지만</a:t>
            </a:r>
            <a:r>
              <a:rPr lang="en-US" altLang="ko-KR"/>
              <a:t>, </a:t>
            </a:r>
            <a:r>
              <a:rPr lang="ko-KR" altLang="en-US"/>
              <a:t>사용자가 정확한 키워드와 분류를 알고 있어야 한다는 구조적 한계가 있습니다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CAAC25-ACAE-C035-3892-8373E13CA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221D-B50D-448D-9A89-2BFE9D15282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208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E3AA5-D3E6-33DE-5E63-F106CE4DF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6E59AB-07AA-BA31-26F7-684863389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3F13BF-6F96-FBAD-B41F-0004DA4EE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﻿현재 서비스는 공식 법령정보를 제공한다는 강점이 있지만</a:t>
            </a:r>
            <a:r>
              <a:rPr lang="en-US" altLang="ko-KR"/>
              <a:t>, </a:t>
            </a:r>
            <a:r>
              <a:rPr lang="ko-KR" altLang="en-US"/>
              <a:t>사용자가 정확한 키워드와 분류를 알고 있어야 한다는 구조적 한계가 있습니다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65161C-BCD1-1E4E-857F-8D844D4C9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221D-B50D-448D-9A89-2BFE9D15282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041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AE2DC2-A539-A031-67AC-1036AAD08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673F-C932-4DFB-A0D0-76B88C473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5B6585-B361-32D9-6F6A-B31E07C93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EDDC45-59B3-3583-05C1-34F84FA84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C43442-038D-5D64-A480-8995EDBE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613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D8C53-6C32-879C-9990-55653509F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9E7951-56D9-AD7B-B47B-6DFC8C5D5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EE096D-318A-9592-7CFC-62AA2831F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F8D34E-5823-7295-CDC6-9C01832B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DD7E5C-E7A6-FD63-2593-C0D76665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551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22BCB-5F75-D6E5-A20F-305C437DA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45D77D-CAB3-7103-3DBC-5EFB387C9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99A44E-CCDE-4C99-048F-8E69C9DF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AEAD96-105C-F85C-6442-4238E4682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640605-9363-8590-D830-D57EB682E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473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44150-527A-8FE6-9C2D-70AE3FA25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2A97FD-51BA-0A5A-13AF-079DD690E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388A75-7426-420B-95BB-B16CA854D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7E1A36-FB08-B93D-2716-CAAFB0E06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F89EDB-D26E-F0F2-4D25-6BC83D346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4D746A-F753-4A10-F620-68AC6076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3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9ECDAF-EC1D-23A7-A37C-BC3B3EE0E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9843D6-BED7-E87B-B123-2BE0627F8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19FFBC-9370-8CD5-3F93-01F2BEC55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E2595D5-9275-F407-A261-49FEA6EDB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DCEDFC-4708-30E7-CBA7-E04C475B2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CE08F61-0CCD-5896-9CDD-226BE4B83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1D2A87D-5E55-03B6-A39C-CBCF8DE6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FBE88A5-9E36-5462-22A8-1E128735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580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D66EEF-7907-2FE4-EE2A-2BE8BCC08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1B321C-CD8A-C0B7-90B9-F53237C66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D8D74D-8BF1-68BF-0DF9-BEED5D504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127F130-B2DA-EB70-8C6B-DC38F634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050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C890570-F0ED-5F50-CBDD-FBB69EA69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110658-BF1A-E3A7-EFD7-6BE3E203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F90117-D642-D19F-C9DA-5930E94AC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194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2ED99F-1E4E-7E71-CABD-204C4A46F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C05304-CA31-0153-E7C2-137096B57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6C180E-6B43-CB8F-7652-A7D8F5749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CC4A3D-28BD-0DCE-1352-0AF3BEEA4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AFB7FB-0352-00E3-8DF5-E184C5222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7C46FE-EF95-6D42-BC82-117CF745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895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55830B-B259-7C5C-2B73-C3C9A4069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2A5C819-55DD-50E8-3349-496BA7CC1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7286B1-687E-ED85-E9CC-98C9AD632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B1591D-0B9D-A033-2F09-100E0458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5BDBA2-1F13-A3A9-821A-7237A5ED0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0FBB48-ABA0-5221-97F4-183CFA41F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350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458E48-0B2E-B842-0871-379E0B96E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D9B0E0-70E8-968F-B036-C7A01E11B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7CE955-307E-D064-3755-DD57649E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5687E4-282A-009B-A7B7-90608395C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33A4CA-D4B5-C915-417F-0C4F708E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66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C29203-D6F7-CC2A-DBFD-27916D629E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8BA2E3-631C-AFDC-A73F-FC842FA38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28FE95-EED6-E5E0-FF50-7CCE9D30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E3D58B-501E-ABBD-6A52-8440B9BED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884EAA-0530-E0D3-89F9-0D13DFA4F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423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AB8CAFFF-4DD4-9F8F-5719-99AC2494EAF8}"/>
              </a:ext>
            </a:extLst>
          </p:cNvPr>
          <p:cNvSpPr/>
          <p:nvPr userDrawn="1"/>
        </p:nvSpPr>
        <p:spPr>
          <a:xfrm>
            <a:off x="-1990801" y="-6546"/>
            <a:ext cx="6856752" cy="3538997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9" y="0"/>
                </a:lnTo>
                <a:lnTo>
                  <a:pt x="67758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800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421E6DF9-C40D-A7C4-99F9-D96534BF7235}"/>
              </a:ext>
            </a:extLst>
          </p:cNvPr>
          <p:cNvSpPr/>
          <p:nvPr userDrawn="1"/>
        </p:nvSpPr>
        <p:spPr>
          <a:xfrm flipH="1" flipV="1">
            <a:off x="7687658" y="3629541"/>
            <a:ext cx="6034967" cy="322846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8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291FDBD-E1E7-834A-F926-18538C075776}"/>
              </a:ext>
            </a:extLst>
          </p:cNvPr>
          <p:cNvSpPr/>
          <p:nvPr userDrawn="1"/>
        </p:nvSpPr>
        <p:spPr>
          <a:xfrm>
            <a:off x="248647" y="143728"/>
            <a:ext cx="11710148" cy="629401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noFill/>
          </a:ln>
          <a:effectLst>
            <a:glow rad="63500">
              <a:schemeClr val="tx1">
                <a:lumMod val="50000"/>
                <a:lumOff val="5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4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608FE16-354E-8012-0B30-FDD531C1DCB2}"/>
              </a:ext>
            </a:extLst>
          </p:cNvPr>
          <p:cNvSpPr/>
          <p:nvPr userDrawn="1"/>
        </p:nvSpPr>
        <p:spPr>
          <a:xfrm rot="5400000">
            <a:off x="200597" y="415175"/>
            <a:ext cx="395640" cy="60959"/>
          </a:xfrm>
          <a:prstGeom prst="rect">
            <a:avLst/>
          </a:prstGeom>
          <a:solidFill>
            <a:srgbClr val="3777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DA016AD1-38ED-5A40-3856-15B3D7B9F7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817" y="265057"/>
            <a:ext cx="2309283" cy="395641"/>
          </a:xfrm>
          <a:prstGeom prst="rect">
            <a:avLst/>
          </a:prstGeom>
          <a:noFill/>
        </p:spPr>
        <p:txBody>
          <a:bodyPr lIns="0" tIns="11489" rIns="0" bIns="11489" rtlCol="0" anchor="ctr"/>
          <a:lstStyle>
            <a:lvl1pPr>
              <a:buNone/>
              <a:defRPr lang="ko-KR" altLang="en-US" sz="2667" cap="all" spc="25" smtClean="0">
                <a:latin typeface="페이퍼로지 7 Bold" pitchFamily="2" charset="-127"/>
                <a:ea typeface="페이퍼로지 7 Bold" pitchFamily="2" charset="-127"/>
                <a:cs typeface="Pretendard Medium"/>
              </a:defRPr>
            </a:lvl1pPr>
            <a:lvl2pPr>
              <a:defRPr lang="ko-KR" altLang="en-US" sz="1200" smtClean="0"/>
            </a:lvl2pPr>
            <a:lvl3pPr>
              <a:defRPr lang="ko-KR" altLang="en-US" sz="1200" smtClean="0"/>
            </a:lvl3pPr>
            <a:lvl4pPr>
              <a:defRPr lang="ko-KR" altLang="en-US" sz="1200" smtClean="0"/>
            </a:lvl4pPr>
            <a:lvl5pPr>
              <a:defRPr lang="ko-KR" altLang="en-US" sz="1200"/>
            </a:lvl5pPr>
          </a:lstStyle>
          <a:p>
            <a:pPr marL="0" lvl="0" defTabSz="228605">
              <a:lnSpc>
                <a:spcPct val="87980"/>
              </a:lnSpc>
            </a:pPr>
            <a:r>
              <a:rPr lang="ko-KR" altLang="en-US" err="1"/>
              <a:t>ㅇㅇㅇ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018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8291EA-967C-789E-5BF9-6A06B433C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78AA91-5F1A-1083-FC8B-39FE1D04D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5504BB-4414-D3BB-ABBB-64EC261F4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712765-33ED-4791-9392-CB060AEB81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1708AB-7192-AD4D-8A45-9809C7E96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61B5BE-F280-EE7B-9BBE-3D2B3B83C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67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28AA-5930-F50E-65AC-23863CAD8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BABE7-BF34-F6E4-0D8A-3B4B0D810DE4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dirty="0" err="1"/>
              <a:t>고보안</a:t>
            </a:r>
            <a:r>
              <a:rPr lang="ko-KR" altLang="en-US" dirty="0"/>
              <a:t> 산업 현장 작업자 안전 관리 에이전트</a:t>
            </a:r>
          </a:p>
        </p:txBody>
      </p:sp>
    </p:spTree>
    <p:extLst>
      <p:ext uri="{BB962C8B-B14F-4D97-AF65-F5344CB8AC3E}">
        <p14:creationId xmlns:p14="http://schemas.microsoft.com/office/powerpoint/2010/main" val="2689114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06B9CC4-57A0-9A9A-CF74-FEFC08966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531134"/>
              </p:ext>
            </p:extLst>
          </p:nvPr>
        </p:nvGraphicFramePr>
        <p:xfrm>
          <a:off x="0" y="0"/>
          <a:ext cx="9895844" cy="5019037"/>
        </p:xfrm>
        <a:graphic>
          <a:graphicData uri="http://schemas.openxmlformats.org/drawingml/2006/table">
            <a:tbl>
              <a:tblPr/>
              <a:tblGrid>
                <a:gridCol w="1077370">
                  <a:extLst>
                    <a:ext uri="{9D8B030D-6E8A-4147-A177-3AD203B41FA5}">
                      <a16:colId xmlns:a16="http://schemas.microsoft.com/office/drawing/2014/main" val="1423560899"/>
                    </a:ext>
                  </a:extLst>
                </a:gridCol>
                <a:gridCol w="4668602">
                  <a:extLst>
                    <a:ext uri="{9D8B030D-6E8A-4147-A177-3AD203B41FA5}">
                      <a16:colId xmlns:a16="http://schemas.microsoft.com/office/drawing/2014/main" val="3954864198"/>
                    </a:ext>
                  </a:extLst>
                </a:gridCol>
                <a:gridCol w="518734">
                  <a:extLst>
                    <a:ext uri="{9D8B030D-6E8A-4147-A177-3AD203B41FA5}">
                      <a16:colId xmlns:a16="http://schemas.microsoft.com/office/drawing/2014/main" val="255705920"/>
                    </a:ext>
                  </a:extLst>
                </a:gridCol>
                <a:gridCol w="518734">
                  <a:extLst>
                    <a:ext uri="{9D8B030D-6E8A-4147-A177-3AD203B41FA5}">
                      <a16:colId xmlns:a16="http://schemas.microsoft.com/office/drawing/2014/main" val="1281211343"/>
                    </a:ext>
                  </a:extLst>
                </a:gridCol>
                <a:gridCol w="518734">
                  <a:extLst>
                    <a:ext uri="{9D8B030D-6E8A-4147-A177-3AD203B41FA5}">
                      <a16:colId xmlns:a16="http://schemas.microsoft.com/office/drawing/2014/main" val="3825597666"/>
                    </a:ext>
                  </a:extLst>
                </a:gridCol>
                <a:gridCol w="518734">
                  <a:extLst>
                    <a:ext uri="{9D8B030D-6E8A-4147-A177-3AD203B41FA5}">
                      <a16:colId xmlns:a16="http://schemas.microsoft.com/office/drawing/2014/main" val="2065280637"/>
                    </a:ext>
                  </a:extLst>
                </a:gridCol>
                <a:gridCol w="518734">
                  <a:extLst>
                    <a:ext uri="{9D8B030D-6E8A-4147-A177-3AD203B41FA5}">
                      <a16:colId xmlns:a16="http://schemas.microsoft.com/office/drawing/2014/main" val="218689451"/>
                    </a:ext>
                  </a:extLst>
                </a:gridCol>
                <a:gridCol w="518734">
                  <a:extLst>
                    <a:ext uri="{9D8B030D-6E8A-4147-A177-3AD203B41FA5}">
                      <a16:colId xmlns:a16="http://schemas.microsoft.com/office/drawing/2014/main" val="4155105005"/>
                    </a:ext>
                  </a:extLst>
                </a:gridCol>
                <a:gridCol w="518734">
                  <a:extLst>
                    <a:ext uri="{9D8B030D-6E8A-4147-A177-3AD203B41FA5}">
                      <a16:colId xmlns:a16="http://schemas.microsoft.com/office/drawing/2014/main" val="4070693809"/>
                    </a:ext>
                  </a:extLst>
                </a:gridCol>
                <a:gridCol w="518734">
                  <a:extLst>
                    <a:ext uri="{9D8B030D-6E8A-4147-A177-3AD203B41FA5}">
                      <a16:colId xmlns:a16="http://schemas.microsoft.com/office/drawing/2014/main" val="3290169226"/>
                    </a:ext>
                  </a:extLst>
                </a:gridCol>
              </a:tblGrid>
              <a:tr h="30952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추진내용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추진일정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461573"/>
                  </a:ext>
                </a:extLst>
              </a:tr>
              <a:tr h="4092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8964" marR="68964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8964" marR="68964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8964" marR="68964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8964" marR="68964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8964" marR="68964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8964" marR="68964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8964" marR="68964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b="1" kern="0" spc="-23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200" b="1" kern="0" spc="-23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8964" marR="68964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318688"/>
                  </a:ext>
                </a:extLst>
              </a:tr>
              <a:tr h="4092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계획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 현장 안전 요구사항 정의 및 적용 환경 분석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099016"/>
                  </a:ext>
                </a:extLst>
              </a:tr>
              <a:tr h="4092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 재해 시나리오 분석 및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Radar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특성 분석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3805"/>
                  </a:ext>
                </a:extLst>
              </a:tr>
              <a:tr h="40925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mmWave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비접촉 센싱 시스템 아키텍처 설계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354291"/>
                  </a:ext>
                </a:extLst>
              </a:tr>
              <a:tr h="3335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처리 및 대응 매뉴얼 기반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구조 설계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06391"/>
                  </a:ext>
                </a:extLst>
              </a:tr>
              <a:tr h="409255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Radar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작업자 이상 행동 탐지 알고리즘 개발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198401"/>
                  </a:ext>
                </a:extLst>
              </a:tr>
              <a:tr h="4092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 상태 모니터링 및 진동 분석 알고리즘 개발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218245"/>
                  </a:ext>
                </a:extLst>
              </a:tr>
              <a:tr h="4092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사고 대응 에이전트 및 데이터 분석 시스템 개발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313814"/>
                  </a:ext>
                </a:extLst>
              </a:tr>
              <a:tr h="4092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 안전 관제 대시보드 및 시각화 시스템 개발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016078"/>
                  </a:ext>
                </a:extLst>
              </a:tr>
              <a:tr h="3335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모의 현장 환경 기반 이상 탐지 및 시스템 검증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767117"/>
                  </a:ext>
                </a:extLst>
              </a:tr>
              <a:tr h="3335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결과 정리 및 성과지표 도출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720923"/>
                  </a:ext>
                </a:extLst>
              </a:tr>
              <a:tr h="43487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오프라인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미팅계획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기술 세미나 및 멘토링 진행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175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772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5EF7E-9BC6-D995-6050-95E9CC13D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98C2624-2663-3FDD-7C93-A80D2E0C14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817" y="265057"/>
            <a:ext cx="6779683" cy="395641"/>
          </a:xfrm>
        </p:spPr>
        <p:txBody>
          <a:bodyPr>
            <a:normAutofit fontScale="85000" lnSpcReduction="10000"/>
          </a:bodyPr>
          <a:lstStyle/>
          <a:p>
            <a:pPr defTabSz="228605">
              <a:lnSpc>
                <a:spcPct val="87980"/>
              </a:lnSpc>
              <a:defRPr/>
            </a:pPr>
            <a:r>
              <a:rPr lang="en-US" altLang="ko-KR" dirty="0" err="1">
                <a:solidFill>
                  <a:srgbClr val="002060"/>
                </a:solidFill>
              </a:rPr>
              <a:t>mmWave</a:t>
            </a:r>
            <a:r>
              <a:rPr lang="en-US" altLang="ko-KR" dirty="0">
                <a:solidFill>
                  <a:srgbClr val="002060"/>
                </a:solidFill>
              </a:rPr>
              <a:t> </a:t>
            </a:r>
            <a:r>
              <a:rPr lang="ko-KR" altLang="en-US" dirty="0">
                <a:solidFill>
                  <a:srgbClr val="002060"/>
                </a:solidFill>
              </a:rPr>
              <a:t>기반 </a:t>
            </a:r>
            <a:r>
              <a:rPr lang="ko-KR" altLang="en-US" dirty="0" err="1">
                <a:solidFill>
                  <a:srgbClr val="002060"/>
                </a:solidFill>
              </a:rPr>
              <a:t>비접촉</a:t>
            </a:r>
            <a:r>
              <a:rPr lang="ko-KR" altLang="en-US" dirty="0">
                <a:solidFill>
                  <a:srgbClr val="002060"/>
                </a:solidFill>
              </a:rPr>
              <a:t> 센싱 시스템 아키텍처 설계</a:t>
            </a:r>
            <a:endParaRPr lang="en-US" altLang="ko-KR" dirty="0">
              <a:solidFill>
                <a:srgbClr val="00206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763415-5EAD-A15B-4FAF-6C3F1D8D2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0" y="660698"/>
            <a:ext cx="11354223" cy="477710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92354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23F6B-30A6-D12B-C20A-0D17C09EF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0C5E182-7DC5-BC96-5B1C-A9106B1F6D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817" y="265057"/>
            <a:ext cx="6779683" cy="395641"/>
          </a:xfrm>
        </p:spPr>
        <p:txBody>
          <a:bodyPr>
            <a:normAutofit fontScale="85000" lnSpcReduction="10000"/>
          </a:bodyPr>
          <a:lstStyle/>
          <a:p>
            <a:pPr defTabSz="228605">
              <a:lnSpc>
                <a:spcPct val="87980"/>
              </a:lnSpc>
              <a:defRPr/>
            </a:pPr>
            <a:r>
              <a:rPr lang="ko-KR" altLang="en-US" dirty="0">
                <a:solidFill>
                  <a:srgbClr val="002060"/>
                </a:solidFill>
              </a:rPr>
              <a:t>데이터 처리 및 대응 매뉴얼 기반 </a:t>
            </a:r>
            <a:r>
              <a:rPr lang="en-US" altLang="ko-KR" dirty="0">
                <a:solidFill>
                  <a:srgbClr val="002060"/>
                </a:solidFill>
              </a:rPr>
              <a:t>DB </a:t>
            </a:r>
            <a:r>
              <a:rPr lang="ko-KR" altLang="en-US" dirty="0">
                <a:solidFill>
                  <a:srgbClr val="002060"/>
                </a:solidFill>
              </a:rPr>
              <a:t>구조 설계</a:t>
            </a:r>
            <a:endParaRPr lang="en-US" altLang="ko-KR" dirty="0">
              <a:solidFill>
                <a:srgbClr val="00206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EDBED1-9D6E-4870-74B2-0E31694F0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25" y="694644"/>
            <a:ext cx="10333273" cy="562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499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B64F0-2176-D3FA-B028-AF4C2E3C2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4FF9AB1-216D-4129-472A-FEE5164BEB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817" y="265057"/>
            <a:ext cx="6779683" cy="395641"/>
          </a:xfrm>
        </p:spPr>
        <p:txBody>
          <a:bodyPr>
            <a:normAutofit fontScale="85000" lnSpcReduction="10000"/>
          </a:bodyPr>
          <a:lstStyle/>
          <a:p>
            <a:pPr defTabSz="228605">
              <a:lnSpc>
                <a:spcPct val="87980"/>
              </a:lnSpc>
              <a:defRPr/>
            </a:pPr>
            <a:r>
              <a:rPr lang="ko-KR" altLang="en-US" dirty="0">
                <a:solidFill>
                  <a:srgbClr val="002060"/>
                </a:solidFill>
              </a:rPr>
              <a:t>데이터 처리 및 대응 매뉴얼 기반 </a:t>
            </a:r>
            <a:r>
              <a:rPr lang="en-US" altLang="ko-KR" dirty="0">
                <a:solidFill>
                  <a:srgbClr val="002060"/>
                </a:solidFill>
              </a:rPr>
              <a:t>DB </a:t>
            </a:r>
            <a:r>
              <a:rPr lang="ko-KR" altLang="en-US" dirty="0">
                <a:solidFill>
                  <a:srgbClr val="002060"/>
                </a:solidFill>
              </a:rPr>
              <a:t>구조 설계</a:t>
            </a:r>
            <a:endParaRPr lang="en-US" altLang="ko-KR" dirty="0">
              <a:solidFill>
                <a:srgbClr val="00206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D0DB5A-5EAB-7296-BF1A-BEECEE8A7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54" y="995023"/>
            <a:ext cx="6458851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98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DA628-A318-2048-2260-8AA7E886C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85DF439-DEF0-6B58-2DB3-A6424196E4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817" y="265057"/>
            <a:ext cx="6779683" cy="395641"/>
          </a:xfrm>
        </p:spPr>
        <p:txBody>
          <a:bodyPr>
            <a:normAutofit fontScale="85000" lnSpcReduction="10000"/>
          </a:bodyPr>
          <a:lstStyle/>
          <a:p>
            <a:pPr defTabSz="228605">
              <a:lnSpc>
                <a:spcPct val="87980"/>
              </a:lnSpc>
              <a:defRPr/>
            </a:pPr>
            <a:r>
              <a:rPr lang="ko-KR" altLang="en-US" dirty="0">
                <a:solidFill>
                  <a:srgbClr val="002060"/>
                </a:solidFill>
              </a:rPr>
              <a:t>데이터 처리 및 대응 매뉴얼 기반 </a:t>
            </a:r>
            <a:r>
              <a:rPr lang="en-US" altLang="ko-KR" dirty="0">
                <a:solidFill>
                  <a:srgbClr val="002060"/>
                </a:solidFill>
              </a:rPr>
              <a:t>DB </a:t>
            </a:r>
            <a:r>
              <a:rPr lang="ko-KR" altLang="en-US" dirty="0">
                <a:solidFill>
                  <a:srgbClr val="002060"/>
                </a:solidFill>
              </a:rPr>
              <a:t>구조 설계</a:t>
            </a:r>
            <a:endParaRPr lang="en-US" altLang="ko-KR" dirty="0">
              <a:solidFill>
                <a:srgbClr val="00206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9A8EA4-9DAE-D474-1068-87E0256F3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69" y="660698"/>
            <a:ext cx="7011378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856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35677-91A0-AA0A-19D8-360C79014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20735C2-B5EB-5637-A08A-91986D70A1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817" y="265057"/>
            <a:ext cx="6779683" cy="395641"/>
          </a:xfrm>
        </p:spPr>
        <p:txBody>
          <a:bodyPr>
            <a:normAutofit fontScale="85000" lnSpcReduction="10000"/>
          </a:bodyPr>
          <a:lstStyle/>
          <a:p>
            <a:pPr defTabSz="228605">
              <a:lnSpc>
                <a:spcPct val="87980"/>
              </a:lnSpc>
              <a:defRPr/>
            </a:pPr>
            <a:r>
              <a:rPr lang="ko-KR" altLang="en-US" dirty="0">
                <a:solidFill>
                  <a:srgbClr val="002060"/>
                </a:solidFill>
              </a:rPr>
              <a:t>데이터 처리 및 대응 매뉴얼 기반 </a:t>
            </a:r>
            <a:r>
              <a:rPr lang="en-US" altLang="ko-KR" dirty="0">
                <a:solidFill>
                  <a:srgbClr val="002060"/>
                </a:solidFill>
              </a:rPr>
              <a:t>DB </a:t>
            </a:r>
            <a:r>
              <a:rPr lang="ko-KR" altLang="en-US" dirty="0">
                <a:solidFill>
                  <a:srgbClr val="002060"/>
                </a:solidFill>
              </a:rPr>
              <a:t>구조 설계</a:t>
            </a:r>
            <a:endParaRPr lang="en-US" altLang="ko-KR" dirty="0">
              <a:solidFill>
                <a:srgbClr val="002060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B3EEAC1-B505-5894-E985-D79736485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595293"/>
              </p:ext>
            </p:extLst>
          </p:nvPr>
        </p:nvGraphicFramePr>
        <p:xfrm>
          <a:off x="436880" y="918052"/>
          <a:ext cx="11338560" cy="468923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99643">
                  <a:extLst>
                    <a:ext uri="{9D8B030D-6E8A-4147-A177-3AD203B41FA5}">
                      <a16:colId xmlns:a16="http://schemas.microsoft.com/office/drawing/2014/main" val="2768298298"/>
                    </a:ext>
                  </a:extLst>
                </a:gridCol>
                <a:gridCol w="1586624">
                  <a:extLst>
                    <a:ext uri="{9D8B030D-6E8A-4147-A177-3AD203B41FA5}">
                      <a16:colId xmlns:a16="http://schemas.microsoft.com/office/drawing/2014/main" val="788366795"/>
                    </a:ext>
                  </a:extLst>
                </a:gridCol>
                <a:gridCol w="2941060">
                  <a:extLst>
                    <a:ext uri="{9D8B030D-6E8A-4147-A177-3AD203B41FA5}">
                      <a16:colId xmlns:a16="http://schemas.microsoft.com/office/drawing/2014/main" val="3251627326"/>
                    </a:ext>
                  </a:extLst>
                </a:gridCol>
                <a:gridCol w="5611233">
                  <a:extLst>
                    <a:ext uri="{9D8B030D-6E8A-4147-A177-3AD203B41FA5}">
                      <a16:colId xmlns:a16="http://schemas.microsoft.com/office/drawing/2014/main" val="1704347949"/>
                    </a:ext>
                  </a:extLst>
                </a:gridCol>
              </a:tblGrid>
              <a:tr h="288432">
                <a:tc>
                  <a:txBody>
                    <a:bodyPr/>
                    <a:lstStyle/>
                    <a:p>
                      <a:pPr marL="72000" algn="ctr" rtl="0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분류</a:t>
                      </a:r>
                      <a:endParaRPr lang="ko-KR" altLang="en-US" sz="14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rtl="0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세부 항목</a:t>
                      </a:r>
                      <a:endParaRPr lang="ko-KR" altLang="en-US" sz="14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rtl="0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채택 기술 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(</a:t>
                      </a:r>
                      <a:r>
                        <a:rPr lang="en-US" sz="1400" b="1" u="none" strike="noStrike" dirty="0">
                          <a:effectLst/>
                        </a:rPr>
                        <a:t>Stack)</a:t>
                      </a:r>
                      <a:endParaRPr lang="en-US" sz="14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rtl="0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비고 및 선정 사유</a:t>
                      </a:r>
                      <a:endParaRPr lang="ko-KR" altLang="en-US" sz="14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079718"/>
                  </a:ext>
                </a:extLst>
              </a:tr>
              <a:tr h="354024">
                <a:tc rowSpan="2">
                  <a:txBody>
                    <a:bodyPr/>
                    <a:lstStyle/>
                    <a:p>
                      <a:pPr marL="72000" algn="ctr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H/W</a:t>
                      </a:r>
                      <a:endParaRPr lang="ko-KR" altLang="en-US" sz="14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메인 컴퓨팅</a:t>
                      </a:r>
                      <a:endParaRPr lang="ko-KR" altLang="en-US" sz="14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fi-FI" sz="1400" u="none" strike="noStrike" dirty="0">
                          <a:effectLst/>
                        </a:rPr>
                        <a:t>NVIDIA Jetson Orin Nano (8GB)</a:t>
                      </a:r>
                      <a:endParaRPr lang="fi-FI" sz="14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40 TOPS AI </a:t>
                      </a:r>
                      <a:r>
                        <a:rPr lang="ko-KR" altLang="en-US" sz="1400" u="none" strike="noStrike" dirty="0">
                          <a:effectLst/>
                        </a:rPr>
                        <a:t>성능</a:t>
                      </a:r>
                      <a:r>
                        <a:rPr lang="en-US" altLang="ko-KR" sz="1400" u="none" strike="noStrike" dirty="0">
                          <a:effectLst/>
                        </a:rPr>
                        <a:t>, 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엣지</a:t>
                      </a:r>
                      <a:r>
                        <a:rPr lang="ko-KR" altLang="en-US" sz="1400" u="none" strike="noStrike" dirty="0">
                          <a:effectLst/>
                        </a:rPr>
                        <a:t> 컴퓨팅 및 로컬 서버 핵심 장치</a:t>
                      </a:r>
                      <a:endParaRPr lang="ko-KR" altLang="en-US" sz="14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extLst>
                  <a:ext uri="{0D108BD9-81ED-4DB2-BD59-A6C34878D82A}">
                    <a16:rowId xmlns:a16="http://schemas.microsoft.com/office/drawing/2014/main" val="726608117"/>
                  </a:ext>
                </a:extLst>
              </a:tr>
              <a:tr h="35402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센서 하드웨어</a:t>
                      </a:r>
                      <a:endParaRPr lang="ko-KR" altLang="en-US" sz="14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mmWave</a:t>
                      </a:r>
                      <a:r>
                        <a:rPr lang="en-US" sz="1400" u="none" strike="noStrike" dirty="0">
                          <a:effectLst/>
                        </a:rPr>
                        <a:t> Radar </a:t>
                      </a:r>
                      <a:endParaRPr lang="en-US" sz="14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 dirty="0" err="1">
                          <a:effectLst/>
                        </a:rPr>
                        <a:t>고보안</a:t>
                      </a:r>
                      <a:r>
                        <a:rPr lang="en-US" altLang="ko-KR" sz="1400" u="none" strike="noStrike" dirty="0">
                          <a:effectLst/>
                        </a:rPr>
                        <a:t>/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고노이즈</a:t>
                      </a:r>
                      <a:r>
                        <a:rPr lang="ko-KR" altLang="en-US" sz="1400" u="none" strike="noStrike" dirty="0">
                          <a:effectLst/>
                        </a:rPr>
                        <a:t> 대응 및 레이더 센싱</a:t>
                      </a:r>
                      <a:endParaRPr lang="ko-KR" altLang="en-US" sz="14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extLst>
                  <a:ext uri="{0D108BD9-81ED-4DB2-BD59-A6C34878D82A}">
                    <a16:rowId xmlns:a16="http://schemas.microsoft.com/office/drawing/2014/main" val="1477259465"/>
                  </a:ext>
                </a:extLst>
              </a:tr>
              <a:tr h="531038">
                <a:tc rowSpan="2">
                  <a:txBody>
                    <a:bodyPr/>
                    <a:lstStyle/>
                    <a:p>
                      <a:pPr marL="72000" algn="ctr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AI Model</a:t>
                      </a:r>
                      <a:endParaRPr lang="ko-KR" altLang="en-US" sz="14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언어 모델</a:t>
                      </a:r>
                      <a:r>
                        <a:rPr lang="en-US" altLang="ko-KR" sz="1400" u="none" strike="noStrike" dirty="0">
                          <a:effectLst/>
                        </a:rPr>
                        <a:t>(</a:t>
                      </a:r>
                      <a:r>
                        <a:rPr lang="en-US" sz="1400" u="none" strike="noStrike" dirty="0">
                          <a:effectLst/>
                        </a:rPr>
                        <a:t>LLM)</a:t>
                      </a:r>
                      <a:endParaRPr lang="en-US" sz="14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en-US" sz="1400" u="none" strike="sngStrike" dirty="0">
                          <a:effectLst/>
                        </a:rPr>
                        <a:t>Qwen2.5-7B-Instruct (4-bit)</a:t>
                      </a:r>
                    </a:p>
                    <a:p>
                      <a:pPr marL="72000" algn="l" rtl="0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Llama-3-8B-Instruct (4-bit Quantized), </a:t>
                      </a:r>
                    </a:p>
                    <a:p>
                      <a:pPr marL="72000" algn="l" rtl="0" fontAlgn="ctr">
                        <a:buNone/>
                      </a:pPr>
                      <a:r>
                        <a:rPr lang="en-US" altLang="ko-KR" sz="1400" dirty="0"/>
                        <a:t>Qwen2.5-3B</a:t>
                      </a:r>
                      <a:endParaRPr lang="en-US" sz="1400" b="1" i="0" u="none" strike="sng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Llama-3 </a:t>
                      </a:r>
                      <a:r>
                        <a:rPr lang="ko-KR" altLang="en-US" sz="1400" u="none" strike="noStrike" dirty="0">
                          <a:effectLst/>
                        </a:rPr>
                        <a:t>대비 높은 논리 추론 및 한국어 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처리력</a:t>
                      </a:r>
                      <a:r>
                        <a:rPr lang="en-US" altLang="ko-KR" sz="1400" u="none" strike="noStrike" dirty="0">
                          <a:effectLst/>
                        </a:rPr>
                        <a:t>, </a:t>
                      </a:r>
                      <a:r>
                        <a:rPr lang="en-US" altLang="ko-KR" sz="1400" u="none" strike="noStrike" dirty="0" err="1">
                          <a:effectLst/>
                        </a:rPr>
                        <a:t>TensorRT</a:t>
                      </a:r>
                      <a:r>
                        <a:rPr lang="en-US" altLang="ko-KR" sz="1400" u="none" strike="noStrike" dirty="0">
                          <a:effectLst/>
                        </a:rPr>
                        <a:t> </a:t>
                      </a:r>
                      <a:r>
                        <a:rPr lang="ko-KR" altLang="en-US" sz="1400" u="none" strike="noStrike" dirty="0">
                          <a:effectLst/>
                        </a:rPr>
                        <a:t>가속</a:t>
                      </a:r>
                      <a:endParaRPr lang="ko-KR" altLang="en-US" sz="14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880166"/>
                  </a:ext>
                </a:extLst>
              </a:tr>
              <a:tr h="35402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임베딩 모델</a:t>
                      </a:r>
                      <a:endParaRPr lang="ko-KR" altLang="en-US" sz="14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BGE-M3 (</a:t>
                      </a:r>
                      <a:r>
                        <a:rPr lang="en-US" sz="1400" u="none" strike="noStrike" dirty="0" err="1">
                          <a:effectLst/>
                        </a:rPr>
                        <a:t>FlagEmbedding</a:t>
                      </a:r>
                      <a:r>
                        <a:rPr lang="en-US" sz="1400" u="none" strike="noStrike" dirty="0">
                          <a:effectLst/>
                        </a:rPr>
                        <a:t>)</a:t>
                      </a:r>
                      <a:endParaRPr lang="en-US" sz="14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다국어</a:t>
                      </a:r>
                      <a:r>
                        <a:rPr lang="en-US" altLang="ko-KR" sz="1400" u="none" strike="noStrike" dirty="0">
                          <a:effectLst/>
                        </a:rPr>
                        <a:t>/</a:t>
                      </a:r>
                      <a:r>
                        <a:rPr lang="ko-KR" altLang="en-US" sz="1400" u="none" strike="noStrike" dirty="0">
                          <a:effectLst/>
                        </a:rPr>
                        <a:t>한국어 전문 용어 검색 최적화 및 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고정밀</a:t>
                      </a:r>
                      <a:r>
                        <a:rPr lang="ko-KR" altLang="en-US" sz="1400" u="none" strike="noStrike" dirty="0">
                          <a:effectLst/>
                        </a:rPr>
                        <a:t> 벡터화</a:t>
                      </a:r>
                      <a:endParaRPr lang="ko-KR" altLang="en-US" sz="14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810347"/>
                  </a:ext>
                </a:extLst>
              </a:tr>
              <a:tr h="354024">
                <a:tc rowSpan="3">
                  <a:txBody>
                    <a:bodyPr/>
                    <a:lstStyle/>
                    <a:p>
                      <a:pPr marL="72000" algn="ctr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Database</a:t>
                      </a:r>
                      <a:endParaRPr lang="ko-KR" altLang="en-US" sz="14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통합 </a:t>
                      </a:r>
                      <a:r>
                        <a:rPr lang="en-US" sz="1400" u="none" strike="noStrike" dirty="0">
                          <a:effectLst/>
                        </a:rPr>
                        <a:t>DB </a:t>
                      </a:r>
                      <a:r>
                        <a:rPr lang="ko-KR" altLang="en-US" sz="1400" u="none" strike="noStrike" dirty="0">
                          <a:effectLst/>
                        </a:rPr>
                        <a:t>엔진</a:t>
                      </a:r>
                      <a:endParaRPr lang="ko-KR" altLang="en-US" sz="14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en-US" sz="14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PostgreSQL 15</a:t>
                      </a:r>
                      <a:endParaRPr lang="en-US" sz="1400" b="1" i="0" u="none" strike="noStrike" dirty="0">
                        <a:solidFill>
                          <a:srgbClr val="1F1F1F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RAG </a:t>
                      </a:r>
                      <a:r>
                        <a:rPr lang="ko-KR" altLang="en-US" sz="1400" u="none" strike="noStrike" dirty="0">
                          <a:effectLst/>
                        </a:rPr>
                        <a:t>및 그래프 데이터를 통합 관리하는 로컬 저장소</a:t>
                      </a:r>
                      <a:endParaRPr lang="ko-KR" altLang="en-US" sz="14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extLst>
                  <a:ext uri="{0D108BD9-81ED-4DB2-BD59-A6C34878D82A}">
                    <a16:rowId xmlns:a16="http://schemas.microsoft.com/office/drawing/2014/main" val="3786051918"/>
                  </a:ext>
                </a:extLst>
              </a:tr>
              <a:tr h="35402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그래프</a:t>
                      </a:r>
                      <a:r>
                        <a:rPr lang="en-US" altLang="ko-KR" sz="1400" u="none" strike="noStrike" dirty="0">
                          <a:effectLst/>
                        </a:rPr>
                        <a:t>(</a:t>
                      </a:r>
                      <a:r>
                        <a:rPr lang="en-US" sz="1400" u="none" strike="noStrike" dirty="0">
                          <a:effectLst/>
                        </a:rPr>
                        <a:t>Graph)</a:t>
                      </a:r>
                      <a:endParaRPr lang="en-US" sz="14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Apache AGE</a:t>
                      </a:r>
                      <a:endParaRPr lang="en-US" sz="14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안전 규정</a:t>
                      </a:r>
                      <a:r>
                        <a:rPr lang="en-US" altLang="ko-KR" sz="1400" u="none" strike="noStrike" dirty="0">
                          <a:effectLst/>
                        </a:rPr>
                        <a:t>-</a:t>
                      </a:r>
                      <a:r>
                        <a:rPr lang="ko-KR" altLang="en-US" sz="1400" u="none" strike="noStrike" dirty="0">
                          <a:effectLst/>
                        </a:rPr>
                        <a:t>작업자</a:t>
                      </a:r>
                      <a:r>
                        <a:rPr lang="en-US" altLang="ko-KR" sz="1400" u="none" strike="noStrike" dirty="0">
                          <a:effectLst/>
                        </a:rPr>
                        <a:t>-</a:t>
                      </a:r>
                      <a:r>
                        <a:rPr lang="ko-KR" altLang="en-US" sz="1400" u="none" strike="noStrike" dirty="0">
                          <a:effectLst/>
                        </a:rPr>
                        <a:t>설비 간의 논리적 상관관계 추론</a:t>
                      </a:r>
                      <a:endParaRPr lang="ko-KR" altLang="en-US" sz="14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extLst>
                  <a:ext uri="{0D108BD9-81ED-4DB2-BD59-A6C34878D82A}">
                    <a16:rowId xmlns:a16="http://schemas.microsoft.com/office/drawing/2014/main" val="1106753277"/>
                  </a:ext>
                </a:extLst>
              </a:tr>
              <a:tr h="35402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벡터</a:t>
                      </a:r>
                      <a:r>
                        <a:rPr lang="en-US" altLang="ko-KR" sz="1400" u="none" strike="noStrike">
                          <a:effectLst/>
                        </a:rPr>
                        <a:t>(</a:t>
                      </a:r>
                      <a:r>
                        <a:rPr lang="en-US" sz="1400" u="none" strike="noStrike">
                          <a:effectLst/>
                        </a:rPr>
                        <a:t>Vector)</a:t>
                      </a:r>
                      <a:endParaRPr lang="en-US" sz="14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en-US" sz="1400" u="none" strike="noStrike" dirty="0" err="1">
                          <a:effectLst/>
                          <a:highlight>
                            <a:srgbClr val="FFFF00"/>
                          </a:highlight>
                        </a:rPr>
                        <a:t>Pgvector</a:t>
                      </a:r>
                      <a:r>
                        <a:rPr lang="en-US" sz="14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, </a:t>
                      </a:r>
                      <a:r>
                        <a:rPr lang="en-US" sz="1400" u="none" strike="noStrike" dirty="0" err="1">
                          <a:effectLst/>
                        </a:rPr>
                        <a:t>QDrant</a:t>
                      </a:r>
                      <a:r>
                        <a:rPr lang="en-US" sz="1400" u="none" strike="noStrike" dirty="0">
                          <a:effectLst/>
                        </a:rPr>
                        <a:t>, </a:t>
                      </a:r>
                      <a:r>
                        <a:rPr lang="en-US" sz="1400" u="none" strike="noStrike" dirty="0" err="1">
                          <a:effectLst/>
                        </a:rPr>
                        <a:t>Opensearch</a:t>
                      </a:r>
                      <a:endParaRPr lang="en-US" sz="14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안전 매뉴얼</a:t>
                      </a:r>
                      <a:r>
                        <a:rPr lang="en-US" altLang="ko-KR" sz="1400" u="none" strike="noStrike" dirty="0">
                          <a:effectLst/>
                        </a:rPr>
                        <a:t>(SOP) 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임베딩</a:t>
                      </a:r>
                      <a:r>
                        <a:rPr lang="ko-KR" altLang="en-US" sz="1400" u="none" strike="noStrike" dirty="0">
                          <a:effectLst/>
                        </a:rPr>
                        <a:t> 데이터의 초저지연 유사도 검색</a:t>
                      </a:r>
                      <a:endParaRPr lang="ko-KR" altLang="en-US" sz="14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extLst>
                  <a:ext uri="{0D108BD9-81ED-4DB2-BD59-A6C34878D82A}">
                    <a16:rowId xmlns:a16="http://schemas.microsoft.com/office/drawing/2014/main" val="513204780"/>
                  </a:ext>
                </a:extLst>
              </a:tr>
              <a:tr h="354024">
                <a:tc rowSpan="2">
                  <a:txBody>
                    <a:bodyPr/>
                    <a:lstStyle/>
                    <a:p>
                      <a:pPr marL="72000" algn="ctr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Digital Twin</a:t>
                      </a:r>
                      <a:endParaRPr lang="ko-KR" altLang="en-US" sz="14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시뮬레이션</a:t>
                      </a:r>
                      <a:endParaRPr lang="ko-KR" altLang="en-US" sz="14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Gazebo</a:t>
                      </a:r>
                      <a:endParaRPr lang="en-US" sz="14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ROS2 </a:t>
                      </a:r>
                      <a:r>
                        <a:rPr lang="ko-KR" altLang="en-US" sz="1400" u="none" strike="noStrike" dirty="0">
                          <a:effectLst/>
                        </a:rPr>
                        <a:t>네이티브 연동을 통한 물리 엔진 기반 가상 환경 복제</a:t>
                      </a:r>
                      <a:endParaRPr lang="ko-KR" altLang="en-US" sz="14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extLst>
                  <a:ext uri="{0D108BD9-81ED-4DB2-BD59-A6C34878D82A}">
                    <a16:rowId xmlns:a16="http://schemas.microsoft.com/office/drawing/2014/main" val="1829795246"/>
                  </a:ext>
                </a:extLst>
              </a:tr>
              <a:tr h="35402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가시화</a:t>
                      </a:r>
                      <a:r>
                        <a:rPr lang="en-US" altLang="ko-KR" sz="1400" u="none" strike="noStrike">
                          <a:effectLst/>
                        </a:rPr>
                        <a:t>/</a:t>
                      </a:r>
                      <a:r>
                        <a:rPr lang="ko-KR" altLang="en-US" sz="1400" u="none" strike="noStrike">
                          <a:effectLst/>
                        </a:rPr>
                        <a:t>관제</a:t>
                      </a:r>
                      <a:endParaRPr lang="ko-KR" altLang="en-US" sz="14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RViz2 + Custom Dashboard</a:t>
                      </a:r>
                      <a:endParaRPr lang="en-US" sz="14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순찰 커버리지 시각화 및 실시간 사고 대응 모니터링</a:t>
                      </a:r>
                      <a:endParaRPr lang="ko-KR" altLang="en-US" sz="14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extLst>
                  <a:ext uri="{0D108BD9-81ED-4DB2-BD59-A6C34878D82A}">
                    <a16:rowId xmlns:a16="http://schemas.microsoft.com/office/drawing/2014/main" val="935052219"/>
                  </a:ext>
                </a:extLst>
              </a:tr>
              <a:tr h="354024">
                <a:tc rowSpan="2">
                  <a:txBody>
                    <a:bodyPr/>
                    <a:lstStyle/>
                    <a:p>
                      <a:pPr marL="72000" algn="ctr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DevOps</a:t>
                      </a:r>
                      <a:endParaRPr lang="ko-KR" altLang="en-US" sz="14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환경 관리</a:t>
                      </a:r>
                      <a:endParaRPr lang="ko-KR" altLang="en-US" sz="14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Docker / NVIDIA Container</a:t>
                      </a:r>
                      <a:endParaRPr lang="en-US" sz="14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 dirty="0" err="1">
                          <a:effectLst/>
                        </a:rPr>
                        <a:t>엣지</a:t>
                      </a:r>
                      <a:r>
                        <a:rPr lang="ko-KR" altLang="en-US" sz="1400" u="none" strike="noStrike" dirty="0">
                          <a:effectLst/>
                        </a:rPr>
                        <a:t> 장비 배포 최적화 및 </a:t>
                      </a:r>
                      <a:r>
                        <a:rPr lang="en-US" altLang="ko-KR" sz="1400" u="none" strike="noStrike" dirty="0">
                          <a:effectLst/>
                        </a:rPr>
                        <a:t>AI </a:t>
                      </a:r>
                      <a:r>
                        <a:rPr lang="ko-KR" altLang="en-US" sz="1400" u="none" strike="noStrike" dirty="0">
                          <a:effectLst/>
                        </a:rPr>
                        <a:t>모델 라이브러리 의존성 해결</a:t>
                      </a:r>
                      <a:endParaRPr lang="ko-KR" altLang="en-US" sz="14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extLst>
                  <a:ext uri="{0D108BD9-81ED-4DB2-BD59-A6C34878D82A}">
                    <a16:rowId xmlns:a16="http://schemas.microsoft.com/office/drawing/2014/main" val="1919585479"/>
                  </a:ext>
                </a:extLst>
              </a:tr>
              <a:tr h="35402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오케스트레이션</a:t>
                      </a:r>
                      <a:endParaRPr lang="ko-KR" altLang="en-US" sz="14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LangChain / GraphRAG</a:t>
                      </a:r>
                      <a:endParaRPr lang="en-US" sz="14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tc>
                  <a:txBody>
                    <a:bodyPr/>
                    <a:lstStyle/>
                    <a:p>
                      <a:pPr marL="72000" algn="l" rtl="0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센서</a:t>
                      </a:r>
                      <a:r>
                        <a:rPr lang="en-US" altLang="ko-KR" sz="1400" u="none" strike="noStrike" dirty="0">
                          <a:effectLst/>
                        </a:rPr>
                        <a:t>-DB-LLM</a:t>
                      </a:r>
                      <a:r>
                        <a:rPr lang="ko-KR" altLang="en-US" sz="1400" u="none" strike="noStrike" dirty="0">
                          <a:effectLst/>
                        </a:rPr>
                        <a:t>을 잇는 지능형 에이전트 워크플로우 제어</a:t>
                      </a:r>
                      <a:endParaRPr lang="ko-KR" altLang="en-US" sz="14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22" marR="7122" marT="7122" marB="0" anchor="ctr"/>
                </a:tc>
                <a:extLst>
                  <a:ext uri="{0D108BD9-81ED-4DB2-BD59-A6C34878D82A}">
                    <a16:rowId xmlns:a16="http://schemas.microsoft.com/office/drawing/2014/main" val="3119606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67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118D1-166D-E0D2-1AC7-48E410198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0E076AA-2748-338C-C4AC-E429FFE760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817" y="265057"/>
            <a:ext cx="6779683" cy="395641"/>
          </a:xfrm>
        </p:spPr>
        <p:txBody>
          <a:bodyPr>
            <a:normAutofit fontScale="85000" lnSpcReduction="10000"/>
          </a:bodyPr>
          <a:lstStyle/>
          <a:p>
            <a:pPr defTabSz="228605">
              <a:lnSpc>
                <a:spcPct val="87980"/>
              </a:lnSpc>
              <a:defRPr/>
            </a:pPr>
            <a:r>
              <a:rPr lang="ko-KR" altLang="en-US" dirty="0">
                <a:solidFill>
                  <a:srgbClr val="002060"/>
                </a:solidFill>
              </a:rPr>
              <a:t>데이터 처리 및 대응 매뉴얼 기반 </a:t>
            </a:r>
            <a:r>
              <a:rPr lang="en-US" altLang="ko-KR" dirty="0">
                <a:solidFill>
                  <a:srgbClr val="002060"/>
                </a:solidFill>
              </a:rPr>
              <a:t>DB </a:t>
            </a:r>
            <a:r>
              <a:rPr lang="ko-KR" altLang="en-US" dirty="0">
                <a:solidFill>
                  <a:srgbClr val="002060"/>
                </a:solidFill>
              </a:rPr>
              <a:t>구조 설계</a:t>
            </a:r>
            <a:endParaRPr lang="en-US" altLang="ko-KR" dirty="0">
              <a:solidFill>
                <a:srgbClr val="002060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F692CCE-D712-4A2A-7A18-3446A4248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365876"/>
              </p:ext>
            </p:extLst>
          </p:nvPr>
        </p:nvGraphicFramePr>
        <p:xfrm>
          <a:off x="254000" y="1150641"/>
          <a:ext cx="5194188" cy="14668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81868">
                  <a:extLst>
                    <a:ext uri="{9D8B030D-6E8A-4147-A177-3AD203B41FA5}">
                      <a16:colId xmlns:a16="http://schemas.microsoft.com/office/drawing/2014/main" val="345346688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3042139414"/>
                    </a:ext>
                  </a:extLst>
                </a:gridCol>
                <a:gridCol w="1932320">
                  <a:extLst>
                    <a:ext uri="{9D8B030D-6E8A-4147-A177-3AD203B41FA5}">
                      <a16:colId xmlns:a16="http://schemas.microsoft.com/office/drawing/2014/main" val="85505455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항목</a:t>
                      </a:r>
                      <a:endParaRPr lang="ko-KR" altLang="en-US" sz="1100" b="1" i="0" u="none" strike="noStrike" dirty="0">
                        <a:solidFill>
                          <a:srgbClr val="1F1F1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u="none" strike="noStrike" dirty="0" err="1">
                          <a:effectLst/>
                        </a:rPr>
                        <a:t>젯슨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 오린 나노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/ </a:t>
                      </a:r>
                      <a:r>
                        <a:rPr lang="ko-KR" altLang="en-US" sz="1100" b="1" u="none" strike="noStrike" dirty="0" err="1">
                          <a:effectLst/>
                        </a:rPr>
                        <a:t>젯슨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 나노</a:t>
                      </a:r>
                      <a:endParaRPr lang="ko-KR" altLang="en-US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u="none" strike="noStrike" dirty="0" err="1">
                          <a:effectLst/>
                        </a:rPr>
                        <a:t>라즈베리파이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5</a:t>
                      </a:r>
                      <a:endParaRPr lang="en-US" altLang="ko-KR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21129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기판 크기</a:t>
                      </a:r>
                      <a:endParaRPr lang="ko-KR" alt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약 </a:t>
                      </a:r>
                      <a:r>
                        <a:rPr lang="en-US" altLang="ko-KR" sz="1100" u="none" strike="noStrike" dirty="0">
                          <a:effectLst/>
                        </a:rPr>
                        <a:t>100mm x 79mm (</a:t>
                      </a:r>
                      <a:r>
                        <a:rPr lang="ko-KR" altLang="en-US" sz="1100" u="none" strike="noStrike" dirty="0">
                          <a:effectLst/>
                        </a:rPr>
                        <a:t>개발자 키트 기준</a:t>
                      </a:r>
                      <a:r>
                        <a:rPr lang="en-US" altLang="ko-KR" sz="1100" u="none" strike="noStrike" dirty="0">
                          <a:effectLst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약 </a:t>
                      </a:r>
                      <a:r>
                        <a:rPr lang="en-US" altLang="ko-KR" sz="1100" u="none" strike="noStrike" dirty="0">
                          <a:effectLst/>
                        </a:rPr>
                        <a:t>85</a:t>
                      </a:r>
                      <a:r>
                        <a:rPr lang="en-US" sz="1100" u="none" strike="noStrike" dirty="0">
                          <a:effectLst/>
                        </a:rPr>
                        <a:t>mm x 56mm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958097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두께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</a:rPr>
                        <a:t>방열판 포함</a:t>
                      </a:r>
                      <a:r>
                        <a:rPr lang="en-US" altLang="ko-KR" sz="1100" u="none" strike="noStrike">
                          <a:effectLst/>
                        </a:rPr>
                        <a:t>)</a:t>
                      </a:r>
                      <a:endParaRPr lang="en-US" altLang="ko-KR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약 </a:t>
                      </a:r>
                      <a:r>
                        <a:rPr lang="en-US" altLang="ko-KR" sz="1100" u="none" strike="noStrike">
                          <a:effectLst/>
                        </a:rPr>
                        <a:t>30~40mm (</a:t>
                      </a:r>
                      <a:r>
                        <a:rPr lang="ko-KR" altLang="en-US" sz="1100" u="none" strike="noStrike">
                          <a:effectLst/>
                        </a:rPr>
                        <a:t>대형 히트싱크 필수</a:t>
                      </a:r>
                      <a:r>
                        <a:rPr lang="en-US" altLang="ko-KR" sz="1100" u="none" strike="noStrike">
                          <a:effectLst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약 </a:t>
                      </a:r>
                      <a:r>
                        <a:rPr lang="en-US" altLang="ko-KR" sz="1100" u="none" strike="noStrike" dirty="0">
                          <a:effectLst/>
                        </a:rPr>
                        <a:t>17~25</a:t>
                      </a:r>
                      <a:r>
                        <a:rPr lang="en-US" sz="1100" u="none" strike="noStrike" dirty="0">
                          <a:effectLst/>
                        </a:rPr>
                        <a:t>mm (Active Cooler </a:t>
                      </a:r>
                      <a:r>
                        <a:rPr lang="ko-KR" altLang="en-US" sz="1100" u="none" strike="noStrike" dirty="0">
                          <a:effectLst/>
                        </a:rPr>
                        <a:t>포함 시</a:t>
                      </a:r>
                      <a:r>
                        <a:rPr lang="en-US" altLang="ko-KR" sz="1100" u="none" strike="noStrike" dirty="0">
                          <a:effectLst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94110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특징</a:t>
                      </a:r>
                      <a:endParaRPr lang="ko-KR" alt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모듈형</a:t>
                      </a:r>
                      <a:r>
                        <a:rPr lang="en-US" altLang="ko-KR" sz="1100" u="none" strike="noStrike">
                          <a:effectLst/>
                        </a:rPr>
                        <a:t>(SOM)</a:t>
                      </a:r>
                      <a:r>
                        <a:rPr lang="ko-KR" altLang="en-US" sz="1100" u="none" strike="noStrike">
                          <a:effectLst/>
                        </a:rPr>
                        <a:t>과 캐리어 보드 결합 방식</a:t>
                      </a:r>
                      <a:endParaRPr lang="ko-KR" alt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단일 보드</a:t>
                      </a:r>
                      <a:r>
                        <a:rPr lang="en-US" altLang="ko-KR" sz="1100" u="none" strike="noStrike" dirty="0">
                          <a:effectLst/>
                        </a:rPr>
                        <a:t>(SBC) </a:t>
                      </a:r>
                      <a:r>
                        <a:rPr lang="ko-KR" altLang="en-US" sz="1100" u="none" strike="noStrike" dirty="0">
                          <a:effectLst/>
                        </a:rPr>
                        <a:t>방식</a:t>
                      </a:r>
                      <a:endParaRPr lang="ko-KR" alt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0718715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183C292-1153-9652-ED37-334F10F9E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863295"/>
              </p:ext>
            </p:extLst>
          </p:nvPr>
        </p:nvGraphicFramePr>
        <p:xfrm>
          <a:off x="254000" y="2843633"/>
          <a:ext cx="6857999" cy="2097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1513">
                  <a:extLst>
                    <a:ext uri="{9D8B030D-6E8A-4147-A177-3AD203B41FA5}">
                      <a16:colId xmlns:a16="http://schemas.microsoft.com/office/drawing/2014/main" val="2860605369"/>
                    </a:ext>
                  </a:extLst>
                </a:gridCol>
                <a:gridCol w="1674849">
                  <a:extLst>
                    <a:ext uri="{9D8B030D-6E8A-4147-A177-3AD203B41FA5}">
                      <a16:colId xmlns:a16="http://schemas.microsoft.com/office/drawing/2014/main" val="3257653432"/>
                    </a:ext>
                  </a:extLst>
                </a:gridCol>
                <a:gridCol w="1931786">
                  <a:extLst>
                    <a:ext uri="{9D8B030D-6E8A-4147-A177-3AD203B41FA5}">
                      <a16:colId xmlns:a16="http://schemas.microsoft.com/office/drawing/2014/main" val="613463836"/>
                    </a:ext>
                  </a:extLst>
                </a:gridCol>
                <a:gridCol w="1969851">
                  <a:extLst>
                    <a:ext uri="{9D8B030D-6E8A-4147-A177-3AD203B41FA5}">
                      <a16:colId xmlns:a16="http://schemas.microsoft.com/office/drawing/2014/main" val="690370206"/>
                    </a:ext>
                  </a:extLst>
                </a:gridCol>
              </a:tblGrid>
              <a:tr h="3244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스펙 항목</a:t>
                      </a:r>
                      <a:endParaRPr lang="ko-KR" altLang="en-US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u="none" strike="noStrike" dirty="0" err="1">
                          <a:effectLst/>
                        </a:rPr>
                        <a:t>젯슨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 오린 나노 </a:t>
                      </a:r>
                      <a:br>
                        <a:rPr lang="ko-KR" altLang="en-US" sz="1100" b="1" u="none" strike="noStrike" dirty="0">
                          <a:effectLst/>
                        </a:rPr>
                      </a:br>
                      <a:r>
                        <a:rPr lang="en-US" altLang="ko-KR" sz="1100" b="1" u="none" strike="noStrike" dirty="0">
                          <a:effectLst/>
                        </a:rPr>
                        <a:t>(Orin Nano)</a:t>
                      </a:r>
                      <a:endParaRPr lang="en-US" altLang="ko-KR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u="none" strike="noStrike" dirty="0" err="1">
                          <a:effectLst/>
                        </a:rPr>
                        <a:t>젯슨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 나노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(</a:t>
                      </a:r>
                      <a:r>
                        <a:rPr lang="en-US" sz="1100" b="1" u="none" strike="noStrike" dirty="0">
                          <a:effectLst/>
                        </a:rPr>
                        <a:t>Legacy)</a:t>
                      </a:r>
                      <a:endParaRPr lang="en-US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u="none" strike="noStrike" dirty="0" err="1">
                          <a:effectLst/>
                        </a:rPr>
                        <a:t>라즈베리파이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5</a:t>
                      </a:r>
                      <a:endParaRPr lang="en-US" altLang="ko-KR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7273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GPU </a:t>
                      </a:r>
                      <a:r>
                        <a:rPr lang="ko-KR" altLang="en-US" sz="1100" u="none" strike="noStrike">
                          <a:effectLst/>
                        </a:rPr>
                        <a:t>아키텍처</a:t>
                      </a:r>
                      <a:endParaRPr lang="ko-KR" alt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NVIDIA Ampere 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(1,024</a:t>
                      </a:r>
                      <a:r>
                        <a:rPr lang="ko-KR" altLang="en-US" sz="1100" u="none" strike="noStrike" dirty="0">
                          <a:effectLst/>
                        </a:rPr>
                        <a:t>개 코어</a:t>
                      </a:r>
                      <a:r>
                        <a:rPr lang="en-US" altLang="ko-KR" sz="1100" u="none" strike="noStrike" dirty="0">
                          <a:effectLst/>
                        </a:rPr>
                        <a:t>)</a:t>
                      </a:r>
                      <a:r>
                        <a:rPr lang="ko-KR" altLang="en-US" sz="1100" u="none" strike="noStrike" dirty="0">
                          <a:effectLst/>
                        </a:rPr>
                        <a:t> </a:t>
                      </a:r>
                      <a:endParaRPr lang="ko-KR" altLang="en-US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NVIDIA Maxwell (128</a:t>
                      </a:r>
                      <a:r>
                        <a:rPr lang="ko-KR" altLang="en-US" sz="1100" u="none" strike="noStrike" dirty="0">
                          <a:effectLst/>
                        </a:rPr>
                        <a:t>개 코어</a:t>
                      </a:r>
                      <a:r>
                        <a:rPr lang="en-US" altLang="ko-KR" sz="1100" u="none" strike="noStrike" dirty="0">
                          <a:effectLst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VideoCore</a:t>
                      </a:r>
                      <a:r>
                        <a:rPr lang="en-US" sz="1100" u="none" strike="noStrike" dirty="0">
                          <a:effectLst/>
                        </a:rPr>
                        <a:t> VII (Broadcom)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1545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AI </a:t>
                      </a:r>
                      <a:r>
                        <a:rPr lang="ko-KR" altLang="en-US" sz="1100" u="none" strike="noStrike">
                          <a:effectLst/>
                        </a:rPr>
                        <a:t>연산 성능</a:t>
                      </a:r>
                      <a:endParaRPr lang="ko-KR" alt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최대 </a:t>
                      </a:r>
                      <a:r>
                        <a:rPr lang="en-US" altLang="ko-KR" sz="1100" u="none" strike="noStrike">
                          <a:effectLst/>
                        </a:rPr>
                        <a:t>40 </a:t>
                      </a:r>
                      <a:r>
                        <a:rPr lang="en-US" sz="1100" u="none" strike="noStrike">
                          <a:effectLst/>
                        </a:rPr>
                        <a:t>TOPS 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0.5 TFLOPS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약 </a:t>
                      </a:r>
                      <a:r>
                        <a:rPr lang="en-US" altLang="ko-KR" sz="1100" u="none" strike="noStrike">
                          <a:effectLst/>
                        </a:rPr>
                        <a:t>1~2 TOPS (NPU </a:t>
                      </a:r>
                      <a:r>
                        <a:rPr lang="ko-KR" altLang="en-US" sz="1100" u="none" strike="noStrike">
                          <a:effectLst/>
                        </a:rPr>
                        <a:t>부재 시</a:t>
                      </a:r>
                      <a:r>
                        <a:rPr lang="en-US" altLang="ko-KR" sz="1100" u="none" strike="noStrike">
                          <a:effectLst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6701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CPU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6-core Arm® Cortex®-A78AE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4-core ARM® Cortex®-A57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4-core Arm® Cortex®-A76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89894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메모리</a:t>
                      </a:r>
                      <a:endParaRPr lang="ko-KR" alt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8GB LPDDR5 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4GB LPDDR4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4GB / 8GB LPDDR4X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10522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전력 소비</a:t>
                      </a:r>
                      <a:endParaRPr lang="ko-KR" alt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7W ~ 15W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5W ~ 10W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약 </a:t>
                      </a:r>
                      <a:r>
                        <a:rPr lang="en-US" altLang="ko-KR" sz="1100" u="none" strike="noStrike" dirty="0">
                          <a:effectLst/>
                        </a:rPr>
                        <a:t>5</a:t>
                      </a:r>
                      <a:r>
                        <a:rPr lang="en-US" sz="1100" u="none" strike="noStrike" dirty="0">
                          <a:effectLst/>
                        </a:rPr>
                        <a:t>W ~ 12W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63933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주요 용도</a:t>
                      </a:r>
                      <a:endParaRPr lang="ko-KR" alt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생성형 </a:t>
                      </a:r>
                      <a:r>
                        <a:rPr lang="en-US" altLang="ko-KR" sz="1100" u="none" strike="noStrike">
                          <a:effectLst/>
                        </a:rPr>
                        <a:t>AI, sLLM, </a:t>
                      </a:r>
                      <a:r>
                        <a:rPr lang="ko-KR" altLang="en-US" sz="1100" u="none" strike="noStrike">
                          <a:effectLst/>
                        </a:rPr>
                        <a:t>실시간 관제 </a:t>
                      </a:r>
                      <a:endParaRPr lang="ko-KR" alt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교육용 기초 </a:t>
                      </a:r>
                      <a:r>
                        <a:rPr lang="en-US" altLang="ko-KR" sz="1100" u="none" strike="noStrike">
                          <a:effectLst/>
                        </a:rPr>
                        <a:t>AI, </a:t>
                      </a:r>
                      <a:r>
                        <a:rPr lang="ko-KR" altLang="en-US" sz="1100" u="none" strike="noStrike">
                          <a:effectLst/>
                        </a:rPr>
                        <a:t>사물 인식</a:t>
                      </a:r>
                      <a:endParaRPr lang="ko-KR" alt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일반 </a:t>
                      </a:r>
                      <a:r>
                        <a:rPr lang="ko-KR" altLang="en-US" sz="1100" u="none" strike="noStrike" dirty="0" err="1">
                          <a:effectLst/>
                        </a:rPr>
                        <a:t>로보틱스</a:t>
                      </a:r>
                      <a:r>
                        <a:rPr lang="en-US" altLang="ko-KR" sz="1100" u="none" strike="noStrike" dirty="0">
                          <a:effectLst/>
                        </a:rPr>
                        <a:t>, IoT, </a:t>
                      </a:r>
                      <a:r>
                        <a:rPr lang="ko-KR" altLang="en-US" sz="1100" u="none" strike="noStrike" dirty="0">
                          <a:effectLst/>
                        </a:rPr>
                        <a:t>서버</a:t>
                      </a:r>
                      <a:endParaRPr lang="ko-KR" alt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741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6273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0B2CA-9AE8-AAC3-E36F-CF118108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05E4C61-68D8-C513-59F8-8D9770C58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817" y="265057"/>
            <a:ext cx="6779683" cy="395641"/>
          </a:xfrm>
        </p:spPr>
        <p:txBody>
          <a:bodyPr>
            <a:normAutofit fontScale="85000" lnSpcReduction="10000"/>
          </a:bodyPr>
          <a:lstStyle/>
          <a:p>
            <a:pPr defTabSz="228605">
              <a:lnSpc>
                <a:spcPct val="87980"/>
              </a:lnSpc>
              <a:defRPr/>
            </a:pPr>
            <a:r>
              <a:rPr lang="ko-KR" altLang="en-US" dirty="0">
                <a:solidFill>
                  <a:srgbClr val="002060"/>
                </a:solidFill>
              </a:rPr>
              <a:t>데이터 처리 및 대응 매뉴얼 기반 </a:t>
            </a:r>
            <a:r>
              <a:rPr lang="en-US" altLang="ko-KR" dirty="0">
                <a:solidFill>
                  <a:srgbClr val="002060"/>
                </a:solidFill>
              </a:rPr>
              <a:t>DB </a:t>
            </a:r>
            <a:r>
              <a:rPr lang="ko-KR" altLang="en-US" dirty="0">
                <a:solidFill>
                  <a:srgbClr val="002060"/>
                </a:solidFill>
              </a:rPr>
              <a:t>구조 설계</a:t>
            </a:r>
            <a:endParaRPr lang="en-US" altLang="ko-KR" dirty="0">
              <a:solidFill>
                <a:srgbClr val="00206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918C64-C801-2CDF-2CFB-C80EE102D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17" y="660698"/>
            <a:ext cx="9345083" cy="57192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DDD99AC-FDC3-CD0F-521F-6FB0CCF3C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7012" y="462877"/>
            <a:ext cx="8392696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97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9FB4F-27A4-5414-9A7C-C9AE98F9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A967321-73B2-E362-1C92-BDD826F27B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817" y="265057"/>
            <a:ext cx="6779683" cy="395641"/>
          </a:xfrm>
        </p:spPr>
        <p:txBody>
          <a:bodyPr>
            <a:normAutofit fontScale="85000" lnSpcReduction="10000"/>
          </a:bodyPr>
          <a:lstStyle/>
          <a:p>
            <a:pPr defTabSz="228605">
              <a:lnSpc>
                <a:spcPct val="87980"/>
              </a:lnSpc>
              <a:defRPr/>
            </a:pPr>
            <a:r>
              <a:rPr lang="ko-KR" altLang="en-US" dirty="0">
                <a:solidFill>
                  <a:srgbClr val="002060"/>
                </a:solidFill>
              </a:rPr>
              <a:t>데이터 처리 및 대응 매뉴얼 기반 </a:t>
            </a:r>
            <a:r>
              <a:rPr lang="en-US" altLang="ko-KR" dirty="0">
                <a:solidFill>
                  <a:srgbClr val="002060"/>
                </a:solidFill>
              </a:rPr>
              <a:t>DB </a:t>
            </a:r>
            <a:r>
              <a:rPr lang="ko-KR" altLang="en-US" dirty="0">
                <a:solidFill>
                  <a:srgbClr val="002060"/>
                </a:solidFill>
              </a:rPr>
              <a:t>구조 설계</a:t>
            </a:r>
            <a:endParaRPr lang="en-US" altLang="ko-KR" dirty="0">
              <a:solidFill>
                <a:srgbClr val="00206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D9CDFD8-F7C2-CD8C-B328-9B3C74D09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07" y="803841"/>
            <a:ext cx="5858693" cy="55347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C002F0-F403-DF2A-4456-BE10F640988D}"/>
              </a:ext>
            </a:extLst>
          </p:cNvPr>
          <p:cNvSpPr txBox="1"/>
          <p:nvPr/>
        </p:nvSpPr>
        <p:spPr>
          <a:xfrm>
            <a:off x="7130006" y="601901"/>
            <a:ext cx="482468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/>
              <a:t>1. </a:t>
            </a:r>
            <a:r>
              <a:rPr lang="ko-KR" altLang="en-US" sz="1400" b="1" dirty="0"/>
              <a:t>문서 </a:t>
            </a:r>
            <a:r>
              <a:rPr lang="ko-KR" altLang="en-US" sz="1400" b="1" dirty="0" err="1"/>
              <a:t>청킹</a:t>
            </a:r>
            <a:r>
              <a:rPr lang="en-US" altLang="ko-KR" sz="1400" b="1" dirty="0"/>
              <a:t>(Chunking) </a:t>
            </a:r>
            <a:r>
              <a:rPr lang="ko-KR" altLang="en-US" sz="1400" b="1" dirty="0"/>
              <a:t>전략</a:t>
            </a:r>
            <a:r>
              <a:rPr lang="en-US" altLang="ko-KR" sz="1400" b="1" dirty="0"/>
              <a:t>: LOTO </a:t>
            </a:r>
            <a:r>
              <a:rPr lang="ko-KR" altLang="en-US" sz="1400" b="1" dirty="0"/>
              <a:t>및 매뉴얼 최적화</a:t>
            </a:r>
          </a:p>
          <a:p>
            <a:pPr>
              <a:buNone/>
            </a:pPr>
            <a:r>
              <a:rPr lang="ko-KR" altLang="en-US" sz="1400" dirty="0"/>
              <a:t>산업안전 매뉴얼은 단순 나열이 아닌 </a:t>
            </a:r>
            <a:r>
              <a:rPr lang="en-US" altLang="ko-KR" sz="1400" dirty="0"/>
              <a:t>'</a:t>
            </a:r>
            <a:r>
              <a:rPr lang="ko-KR" altLang="en-US" sz="1400" dirty="0"/>
              <a:t>조건</a:t>
            </a:r>
            <a:r>
              <a:rPr lang="en-US" altLang="ko-KR" sz="1400" dirty="0"/>
              <a:t>-</a:t>
            </a:r>
            <a:r>
              <a:rPr lang="ko-KR" altLang="en-US" sz="1400" dirty="0"/>
              <a:t>절차</a:t>
            </a:r>
            <a:r>
              <a:rPr lang="en-US" altLang="ko-KR" sz="1400" dirty="0"/>
              <a:t>-</a:t>
            </a:r>
            <a:r>
              <a:rPr lang="ko-KR" altLang="en-US" sz="1400" dirty="0"/>
              <a:t>결과</a:t>
            </a:r>
            <a:r>
              <a:rPr lang="en-US" altLang="ko-KR" sz="1400" dirty="0"/>
              <a:t>'</a:t>
            </a:r>
            <a:r>
              <a:rPr lang="ko-KR" altLang="en-US" sz="1400" dirty="0"/>
              <a:t>의 논리 구조를 가집니다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/>
              <a:t> 권장 크기</a:t>
            </a:r>
            <a:r>
              <a:rPr lang="en-US" altLang="ko-KR" sz="1400" b="1" dirty="0"/>
              <a:t>:</a:t>
            </a:r>
            <a:r>
              <a:rPr lang="ko-KR" altLang="en-US" sz="1400" dirty="0"/>
              <a:t> </a:t>
            </a:r>
            <a:r>
              <a:rPr lang="en-US" altLang="ko-KR" sz="1400" b="1" dirty="0"/>
              <a:t>500~800 </a:t>
            </a:r>
            <a:r>
              <a:rPr lang="ko-KR" altLang="en-US" sz="1400" b="1" dirty="0"/>
              <a:t>토큰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약 </a:t>
            </a:r>
            <a:r>
              <a:rPr lang="en-US" altLang="ko-KR" sz="1400" b="1" dirty="0"/>
              <a:t>400~600</a:t>
            </a:r>
            <a:r>
              <a:rPr lang="ko-KR" altLang="en-US" sz="1400" b="1" dirty="0"/>
              <a:t>자</a:t>
            </a:r>
            <a:r>
              <a:rPr lang="en-US" altLang="ko-KR" sz="1400" b="1" dirty="0"/>
              <a:t>)</a:t>
            </a:r>
            <a:r>
              <a:rPr lang="ko-KR" altLang="en-US" sz="1400" dirty="0"/>
              <a:t> 내외</a:t>
            </a:r>
            <a:r>
              <a:rPr lang="en-US" altLang="ko-KR" sz="1400" dirty="0"/>
              <a:t>, </a:t>
            </a:r>
            <a:r>
              <a:rPr lang="ko-KR" altLang="en-US" sz="1400" b="1" dirty="0"/>
              <a:t>오버랩</a:t>
            </a:r>
            <a:r>
              <a:rPr lang="en-US" altLang="ko-KR" sz="1400" b="1" dirty="0"/>
              <a:t>(Overlap) 10~20%</a:t>
            </a:r>
            <a:r>
              <a:rPr lang="ko-KR" altLang="en-US" sz="1400" dirty="0"/>
              <a:t> 설정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/>
              <a:t> 전략적 분리</a:t>
            </a:r>
            <a:r>
              <a:rPr lang="en-US" altLang="ko-KR" sz="1400" b="1" dirty="0"/>
              <a:t>:</a:t>
            </a:r>
            <a:r>
              <a:rPr lang="ko-KR" altLang="en-US" sz="1400" dirty="0"/>
              <a:t> * </a:t>
            </a:r>
            <a:r>
              <a:rPr lang="en-US" altLang="ko-KR" sz="1400" b="1" dirty="0"/>
              <a:t>LOTO </a:t>
            </a:r>
            <a:r>
              <a:rPr lang="ko-KR" altLang="en-US" sz="1400" b="1" dirty="0"/>
              <a:t>절차서</a:t>
            </a:r>
            <a:r>
              <a:rPr lang="en-US" altLang="ko-KR" sz="1400" b="1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'</a:t>
            </a:r>
            <a:r>
              <a:rPr lang="ko-KR" altLang="en-US" sz="1400" dirty="0"/>
              <a:t>단계별</a:t>
            </a:r>
            <a:r>
              <a:rPr lang="en-US" altLang="ko-KR" sz="1400" dirty="0"/>
              <a:t>(Step-by-Step)'</a:t>
            </a:r>
            <a:r>
              <a:rPr lang="ko-KR" altLang="en-US" sz="1400" dirty="0"/>
              <a:t>로 끊기보다는 하나의 완결된 작업 단위</a:t>
            </a:r>
            <a:r>
              <a:rPr lang="en-US" altLang="ko-KR" sz="1400" dirty="0"/>
              <a:t>(</a:t>
            </a:r>
            <a:r>
              <a:rPr lang="ko-KR" altLang="en-US" sz="1400" dirty="0"/>
              <a:t>예</a:t>
            </a:r>
            <a:r>
              <a:rPr lang="en-US" altLang="ko-KR" sz="1400" dirty="0"/>
              <a:t>: </a:t>
            </a:r>
            <a:r>
              <a:rPr lang="ko-KR" altLang="en-US" sz="1400" dirty="0"/>
              <a:t>특정 장비의 전원 차단 절차 전체</a:t>
            </a:r>
            <a:r>
              <a:rPr lang="en-US" altLang="ko-KR" sz="1400" dirty="0"/>
              <a:t>)</a:t>
            </a:r>
            <a:r>
              <a:rPr lang="ko-KR" altLang="en-US" sz="1400" dirty="0"/>
              <a:t>를 하나의 </a:t>
            </a:r>
            <a:r>
              <a:rPr lang="ko-KR" altLang="en-US" sz="1400" dirty="0" err="1"/>
              <a:t>청크로</a:t>
            </a:r>
            <a:r>
              <a:rPr lang="ko-KR" altLang="en-US" sz="1400" dirty="0"/>
              <a:t> 묶는 </a:t>
            </a:r>
            <a:r>
              <a:rPr lang="en-US" altLang="ko-KR" sz="1400" b="1" dirty="0"/>
              <a:t>Semantic Chunking</a:t>
            </a:r>
            <a:r>
              <a:rPr lang="ko-KR" altLang="en-US" sz="1400" dirty="0"/>
              <a:t>이 유리합니다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 </a:t>
            </a:r>
            <a:r>
              <a:rPr lang="ko-KR" altLang="en-US" sz="1400" b="1" dirty="0"/>
              <a:t>계층적 </a:t>
            </a:r>
            <a:r>
              <a:rPr lang="ko-KR" altLang="en-US" sz="1400" b="1" dirty="0" err="1"/>
              <a:t>청킹</a:t>
            </a:r>
            <a:r>
              <a:rPr lang="en-US" altLang="ko-KR" sz="1400" b="1" dirty="0"/>
              <a:t>(Parent-Document Retrieval):</a:t>
            </a:r>
            <a:r>
              <a:rPr lang="ko-KR" altLang="en-US" sz="1400" dirty="0"/>
              <a:t> 검색용으로는 작은 </a:t>
            </a:r>
            <a:r>
              <a:rPr lang="ko-KR" altLang="en-US" sz="1400" dirty="0" err="1"/>
              <a:t>청크</a:t>
            </a:r>
            <a:r>
              <a:rPr lang="en-US" altLang="ko-KR" sz="1400" dirty="0"/>
              <a:t>(200</a:t>
            </a:r>
            <a:r>
              <a:rPr lang="ko-KR" altLang="en-US" sz="1400" dirty="0"/>
              <a:t>토큰</a:t>
            </a:r>
            <a:r>
              <a:rPr lang="en-US" altLang="ko-KR" sz="1400" dirty="0"/>
              <a:t>)</a:t>
            </a:r>
            <a:r>
              <a:rPr lang="ko-KR" altLang="en-US" sz="1400" dirty="0"/>
              <a:t>를 사용하되</a:t>
            </a:r>
            <a:r>
              <a:rPr lang="en-US" altLang="ko-KR" sz="1400" dirty="0"/>
              <a:t>, LLM</a:t>
            </a:r>
            <a:r>
              <a:rPr lang="ko-KR" altLang="en-US" sz="1400" dirty="0"/>
              <a:t>에게 전달할 때는 해당 </a:t>
            </a:r>
            <a:r>
              <a:rPr lang="ko-KR" altLang="en-US" sz="1400" dirty="0" err="1"/>
              <a:t>청크가</a:t>
            </a:r>
            <a:r>
              <a:rPr lang="ko-KR" altLang="en-US" sz="1400" dirty="0"/>
              <a:t> 포함된 상위 섹션</a:t>
            </a:r>
            <a:r>
              <a:rPr lang="en-US" altLang="ko-KR" sz="1400" dirty="0"/>
              <a:t>(1000</a:t>
            </a:r>
            <a:r>
              <a:rPr lang="ko-KR" altLang="en-US" sz="1400" dirty="0"/>
              <a:t>토큰</a:t>
            </a:r>
            <a:r>
              <a:rPr lang="en-US" altLang="ko-KR" sz="1400" dirty="0"/>
              <a:t>) </a:t>
            </a:r>
            <a:r>
              <a:rPr lang="ko-KR" altLang="en-US" sz="1400" dirty="0"/>
              <a:t>전체를 전달하는 방식이 정확도가 가장 높습니다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6730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1851</TotalTime>
  <Words>861</Words>
  <Application>Microsoft Office PowerPoint</Application>
  <PresentationFormat>와이드스크린</PresentationFormat>
  <Paragraphs>145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맑은 고딕</vt:lpstr>
      <vt:lpstr>페이퍼로지 7 Bold</vt:lpstr>
      <vt:lpstr>함초롬바탕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임영준</dc:creator>
  <cp:lastModifiedBy>onelu</cp:lastModifiedBy>
  <cp:revision>34</cp:revision>
  <dcterms:created xsi:type="dcterms:W3CDTF">2026-01-31T06:13:14Z</dcterms:created>
  <dcterms:modified xsi:type="dcterms:W3CDTF">2026-05-10T09:42:45Z</dcterms:modified>
</cp:coreProperties>
</file>