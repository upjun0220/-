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3" r:id="rId3"/>
    <p:sldId id="279" r:id="rId4"/>
    <p:sldId id="269" r:id="rId5"/>
    <p:sldId id="277" r:id="rId6"/>
    <p:sldId id="275" r:id="rId7"/>
    <p:sldId id="26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08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E2DC2-A539-A031-67AC-1036AAD08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673F-C932-4DFB-A0D0-76B88C473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B6585-B361-32D9-6F6A-B31E07C9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DDC45-59B3-3583-05C1-34F84FA8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43442-038D-5D64-A480-8995EDB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613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D8C53-6C32-879C-9990-55653509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E7951-56D9-AD7B-B47B-6DFC8C5D5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E096D-318A-9592-7CFC-62AA2831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8D34E-5823-7295-CDC6-9C01832B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D7E5C-E7A6-FD63-2593-C0D76665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55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22BCB-5F75-D6E5-A20F-305C437D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45D77D-CAB3-7103-3DBC-5EFB387C9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9A44E-CCDE-4C99-048F-8E69C9DF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AEAD96-105C-F85C-6442-4238E468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40605-9363-8590-D830-D57EB682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47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44150-527A-8FE6-9C2D-70AE3FA2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A97FD-51BA-0A5A-13AF-079DD690E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388A75-7426-420B-95BB-B16CA854D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E1A36-FB08-B93D-2716-CAAFB0E0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F89EDB-D26E-F0F2-4D25-6BC83D34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4D746A-F753-4A10-F620-68AC6076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ECDAF-EC1D-23A7-A37C-BC3B3EE0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843D6-BED7-E87B-B123-2BE0627F8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19FFBC-9370-8CD5-3F93-01F2BEC55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2595D5-9275-F407-A261-49FEA6EDB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DCEDFC-4708-30E7-CBA7-E04C475B2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E08F61-0CCD-5896-9CDD-226BE4B8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D2A87D-5E55-03B6-A39C-CBCF8DE6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BE88A5-9E36-5462-22A8-1E128735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58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66EEF-7907-2FE4-EE2A-2BE8BCC0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1B321C-CD8A-C0B7-90B9-F53237C6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D8D74D-8BF1-68BF-0DF9-BEED5D50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27F130-B2DA-EB70-8C6B-DC38F634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5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890570-F0ED-5F50-CBDD-FBB69EA6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110658-BF1A-E3A7-EFD7-6BE3E203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90117-D642-D19F-C9DA-5930E94A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9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ED99F-1E4E-7E71-CABD-204C4A46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05304-CA31-0153-E7C2-137096B57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6C180E-6B43-CB8F-7652-A7D8F5749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C4A3D-28BD-0DCE-1352-0AF3BEEA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AFB7FB-0352-00E3-8DF5-E184C522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7C46FE-EF95-6D42-BC82-117CF745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9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5830B-B259-7C5C-2B73-C3C9A406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A5C819-55DD-50E8-3349-496BA7CC1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7286B1-687E-ED85-E9CC-98C9AD632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1591D-0B9D-A033-2F09-100E0458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5BDBA2-1F13-A3A9-821A-7237A5ED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0FBB48-ABA0-5221-97F4-183CFA41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5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58E48-0B2E-B842-0871-379E0B96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D9B0E0-70E8-968F-B036-C7A01E11B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CE955-307E-D064-3755-DD57649E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5687E4-282A-009B-A7B7-90608395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33A4CA-D4B5-C915-417F-0C4F708E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6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C29203-D6F7-CC2A-DBFD-27916D629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8BA2E3-631C-AFDC-A73F-FC842FA38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28FE95-EED6-E5E0-FF50-7CCE9D30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3D58B-501E-ABBD-6A52-8440B9BE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84EAA-0530-E0D3-89F9-0D13DFA4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2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8291EA-967C-789E-5BF9-6A06B433C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8AA91-5F1A-1083-FC8B-39FE1D04D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504BB-4414-D3BB-ABBB-64EC261F4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12765-33ED-4791-9392-CB060AEB81BA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708AB-7192-AD4D-8A45-9809C7E96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1B5BE-F280-EE7B-9BBE-3D2B3B83C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F58DB-090B-4115-8D4E-827D074090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67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raining.ti.com/mmwave-training-seri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hanium-notice/2026-2f16ab1a84558013b85efc6d15d5617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28AA-5930-F50E-65AC-23863CAD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BABE7-BF34-F6E4-0D8A-3B4B0D810DE4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 err="1"/>
              <a:t>고보안</a:t>
            </a:r>
            <a:r>
              <a:rPr lang="ko-KR" altLang="en-US" dirty="0"/>
              <a:t> 산업 현장 작업자 안전 관리 에이전트</a:t>
            </a:r>
          </a:p>
        </p:txBody>
      </p:sp>
    </p:spTree>
    <p:extLst>
      <p:ext uri="{BB962C8B-B14F-4D97-AF65-F5344CB8AC3E}">
        <p14:creationId xmlns:p14="http://schemas.microsoft.com/office/powerpoint/2010/main" val="268911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F6841-0BCB-766A-E569-55B1CA7E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583AFB-0CB2-1626-74ED-42A8198C2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569289"/>
              </p:ext>
            </p:extLst>
          </p:nvPr>
        </p:nvGraphicFramePr>
        <p:xfrm>
          <a:off x="0" y="-1"/>
          <a:ext cx="12213835" cy="4115144"/>
        </p:xfrm>
        <a:graphic>
          <a:graphicData uri="http://schemas.openxmlformats.org/drawingml/2006/table">
            <a:tbl>
              <a:tblPr/>
              <a:tblGrid>
                <a:gridCol w="686259">
                  <a:extLst>
                    <a:ext uri="{9D8B030D-6E8A-4147-A177-3AD203B41FA5}">
                      <a16:colId xmlns:a16="http://schemas.microsoft.com/office/drawing/2014/main" val="43908893"/>
                    </a:ext>
                  </a:extLst>
                </a:gridCol>
                <a:gridCol w="1029389">
                  <a:extLst>
                    <a:ext uri="{9D8B030D-6E8A-4147-A177-3AD203B41FA5}">
                      <a16:colId xmlns:a16="http://schemas.microsoft.com/office/drawing/2014/main" val="356219721"/>
                    </a:ext>
                  </a:extLst>
                </a:gridCol>
                <a:gridCol w="1725642">
                  <a:extLst>
                    <a:ext uri="{9D8B030D-6E8A-4147-A177-3AD203B41FA5}">
                      <a16:colId xmlns:a16="http://schemas.microsoft.com/office/drawing/2014/main" val="1713081540"/>
                    </a:ext>
                  </a:extLst>
                </a:gridCol>
                <a:gridCol w="619433">
                  <a:extLst>
                    <a:ext uri="{9D8B030D-6E8A-4147-A177-3AD203B41FA5}">
                      <a16:colId xmlns:a16="http://schemas.microsoft.com/office/drawing/2014/main" val="4154758594"/>
                    </a:ext>
                  </a:extLst>
                </a:gridCol>
                <a:gridCol w="2644877">
                  <a:extLst>
                    <a:ext uri="{9D8B030D-6E8A-4147-A177-3AD203B41FA5}">
                      <a16:colId xmlns:a16="http://schemas.microsoft.com/office/drawing/2014/main" val="3078829798"/>
                    </a:ext>
                  </a:extLst>
                </a:gridCol>
                <a:gridCol w="5508235">
                  <a:extLst>
                    <a:ext uri="{9D8B030D-6E8A-4147-A177-3AD203B41FA5}">
                      <a16:colId xmlns:a16="http://schemas.microsoft.com/office/drawing/2014/main" val="231988802"/>
                    </a:ext>
                  </a:extLst>
                </a:gridCol>
              </a:tblGrid>
              <a:tr h="4672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역할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이름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소속</a:t>
                      </a:r>
                      <a:b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</a:b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부서</a:t>
                      </a: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</a:t>
                      </a: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학과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학년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담당업무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수행업무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(~5/10, 2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차 멘토링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572410"/>
                  </a:ext>
                </a:extLst>
              </a:tr>
              <a:tr h="467297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멘토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임창현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 dirty="0" err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CSLee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 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(AI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엔지니어링사업부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)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수석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01784"/>
                  </a:ext>
                </a:extLst>
              </a:tr>
              <a:tr h="64266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팀장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손민석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숭실대학교 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ctr" fontAlgn="ctr" latinLnBrk="1">
                        <a:buNone/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전기공학부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)</a:t>
                      </a:r>
                    </a:p>
                    <a:p>
                      <a:pPr algn="ctr" fontAlgn="ctr" latinLnBrk="1">
                        <a:buNone/>
                      </a:pP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 dirty="0" err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mmWave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레이더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&amp;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센싱 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>
                        <a:buNone/>
                      </a:pPr>
                      <a:r>
                        <a:rPr lang="en-US" altLang="ko-KR" sz="1200" dirty="0"/>
                        <a:t>60GHz </a:t>
                      </a:r>
                      <a:r>
                        <a:rPr lang="ko-KR" altLang="en-US" sz="1200" dirty="0"/>
                        <a:t>대역 </a:t>
                      </a:r>
                      <a:r>
                        <a:rPr lang="en-US" altLang="ko-KR" sz="1200" dirty="0" err="1"/>
                        <a:t>mmWave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레이더 센서의 데이터시트를 분석하고</a:t>
                      </a:r>
                      <a:r>
                        <a:rPr lang="en-US" altLang="ko-KR" sz="1200" dirty="0"/>
                        <a:t>, PC </a:t>
                      </a:r>
                      <a:r>
                        <a:rPr lang="ko-KR" altLang="en-US" sz="1200" dirty="0"/>
                        <a:t>또는 </a:t>
                      </a:r>
                      <a:r>
                        <a:rPr lang="en-US" altLang="ko-KR" sz="1200" dirty="0"/>
                        <a:t>Jetson</a:t>
                      </a:r>
                      <a:r>
                        <a:rPr lang="ko-KR" altLang="en-US" sz="1200" dirty="0"/>
                        <a:t>과 통신</a:t>
                      </a:r>
                      <a:r>
                        <a:rPr lang="en-US" altLang="ko-KR" sz="1200" dirty="0"/>
                        <a:t>(UART </a:t>
                      </a:r>
                      <a:r>
                        <a:rPr lang="ko-KR" altLang="en-US" sz="1200" dirty="0"/>
                        <a:t>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하여 원시 데이터</a:t>
                      </a:r>
                      <a:r>
                        <a:rPr lang="en-US" altLang="ko-KR" sz="1200" dirty="0"/>
                        <a:t>(Raw Data)</a:t>
                      </a:r>
                      <a:r>
                        <a:rPr lang="ko-KR" altLang="en-US" sz="1200" dirty="0"/>
                        <a:t>를 받아오는 테스트를 준비해 주세요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796114"/>
                  </a:ext>
                </a:extLst>
              </a:tr>
              <a:tr h="64266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서승원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0773" marR="60773" marT="60773" marB="6077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신호처리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Feature Extraction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>
                        <a:buNone/>
                      </a:pPr>
                      <a:r>
                        <a:rPr lang="ko-KR" altLang="en-US" sz="1200" dirty="0"/>
                        <a:t>설비 미세 진동 파악을 위한 </a:t>
                      </a:r>
                      <a:r>
                        <a:rPr lang="en-US" altLang="ko-KR" sz="1200" dirty="0"/>
                        <a:t>FMCW </a:t>
                      </a:r>
                      <a:r>
                        <a:rPr lang="ko-KR" altLang="en-US" sz="1200" dirty="0"/>
                        <a:t>마이크로 도플러 위상 분석 및 노이즈 상쇄를 위한 적응형 </a:t>
                      </a:r>
                      <a:r>
                        <a:rPr lang="en-US" altLang="ko-KR" sz="1200" dirty="0"/>
                        <a:t>DSP </a:t>
                      </a:r>
                      <a:r>
                        <a:rPr lang="ko-KR" altLang="en-US" sz="1200" dirty="0"/>
                        <a:t>필터</a:t>
                      </a:r>
                      <a:r>
                        <a:rPr lang="en-US" altLang="ko-KR" sz="1200" dirty="0"/>
                        <a:t>(LMS </a:t>
                      </a:r>
                      <a:r>
                        <a:rPr lang="ko-KR" altLang="en-US" sz="1200" dirty="0"/>
                        <a:t>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의 파이썬 구현 방안을 조사해 주세요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36145"/>
                  </a:ext>
                </a:extLst>
              </a:tr>
              <a:tr h="467297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홍성준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0773" marR="60773" marT="60773" marB="6077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AI / </a:t>
                      </a: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이상행동 </a:t>
                      </a: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+ </a:t>
                      </a: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예지보전 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>
                        <a:buNone/>
                      </a:pPr>
                      <a:r>
                        <a:rPr lang="ko-KR" altLang="en-US" sz="1200" dirty="0"/>
                        <a:t>비지도 학습 기반 이상 징후 분석을 위해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정상 파형만 학습하여 오차</a:t>
                      </a:r>
                      <a:r>
                        <a:rPr lang="en-US" altLang="ko-KR" sz="1200" dirty="0"/>
                        <a:t>(MSE)</a:t>
                      </a:r>
                      <a:r>
                        <a:rPr lang="ko-KR" altLang="en-US" sz="1200" dirty="0"/>
                        <a:t>를 도출하는 </a:t>
                      </a:r>
                      <a:r>
                        <a:rPr lang="en-US" altLang="ko-KR" sz="1200" dirty="0"/>
                        <a:t>Autoencoder</a:t>
                      </a:r>
                      <a:r>
                        <a:rPr lang="ko-KR" altLang="en-US" sz="1200" dirty="0"/>
                        <a:t>와 </a:t>
                      </a:r>
                      <a:r>
                        <a:rPr lang="en-US" altLang="ko-KR" sz="1200" dirty="0"/>
                        <a:t>LSTM </a:t>
                      </a:r>
                      <a:r>
                        <a:rPr lang="ko-KR" altLang="en-US" sz="1200" dirty="0"/>
                        <a:t>결합 모델의 뼈대를 설계해 주세요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54580"/>
                  </a:ext>
                </a:extLst>
              </a:tr>
              <a:tr h="64266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윤재국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0773" marR="60773" marT="60773" marB="6077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제어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통신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전력 시스템 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>
                        <a:buNone/>
                      </a:pPr>
                      <a:r>
                        <a:rPr lang="ko-KR" altLang="en-US" sz="1200" dirty="0"/>
                        <a:t>사고 감지 시 초고속으로 전력을 물리적으로 차단하기 위해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스마트 차단기와의 산업용 통신</a:t>
                      </a:r>
                      <a:r>
                        <a:rPr lang="en-US" altLang="ko-KR" sz="1200" dirty="0"/>
                        <a:t>(RS-485/Modbus </a:t>
                      </a:r>
                      <a:r>
                        <a:rPr lang="ko-KR" altLang="en-US" sz="1200" dirty="0"/>
                        <a:t>등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프로토콜을 분석하고 제어 스크립트 초안을 작성해 주세요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067549"/>
                  </a:ext>
                </a:extLst>
              </a:tr>
              <a:tr h="64266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홍유빈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0773" marR="60773" marT="60773" marB="6077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시스템 통합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UI / RAG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>
                        <a:buNone/>
                      </a:pPr>
                      <a:r>
                        <a:rPr lang="ko-KR" altLang="en-US" sz="1200" dirty="0"/>
                        <a:t>하이브리드 </a:t>
                      </a:r>
                      <a:r>
                        <a:rPr lang="en-US" altLang="ko-KR" sz="1200" dirty="0"/>
                        <a:t>RAG </a:t>
                      </a:r>
                      <a:r>
                        <a:rPr lang="ko-KR" altLang="en-US" sz="1200" dirty="0"/>
                        <a:t>대응 시스템 구축을 위해 로컬 </a:t>
                      </a:r>
                      <a:r>
                        <a:rPr lang="en-US" altLang="ko-KR" sz="1200" dirty="0"/>
                        <a:t>PostgreSQL </a:t>
                      </a:r>
                      <a:r>
                        <a:rPr lang="ko-KR" altLang="en-US" sz="1200" dirty="0"/>
                        <a:t>서버 세팅 방안과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사고 대응 매뉴얼</a:t>
                      </a:r>
                      <a:r>
                        <a:rPr lang="en-US" altLang="ko-KR" sz="1200" dirty="0"/>
                        <a:t>(SOP/MSDS)</a:t>
                      </a:r>
                      <a:r>
                        <a:rPr lang="ko-KR" altLang="en-US" sz="1200" dirty="0"/>
                        <a:t>을 </a:t>
                      </a:r>
                      <a:r>
                        <a:rPr lang="ko-KR" altLang="en-US" sz="1200" dirty="0" err="1"/>
                        <a:t>벡터화할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 err="1"/>
                        <a:t>LangChain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파이프라인 기초를 조사해 주세요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730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A41B1C8-B852-8049-0533-A516835E6720}"/>
              </a:ext>
            </a:extLst>
          </p:cNvPr>
          <p:cNvSpPr txBox="1"/>
          <p:nvPr/>
        </p:nvSpPr>
        <p:spPr>
          <a:xfrm>
            <a:off x="8386917" y="498396"/>
            <a:ext cx="3637936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/>
              <a:t>UI/RAG </a:t>
            </a:r>
            <a:r>
              <a:rPr lang="ko-KR" altLang="en-US" sz="1200" b="1" dirty="0"/>
              <a:t>등 </a:t>
            </a:r>
            <a:r>
              <a:rPr lang="en-US" altLang="ko-KR" sz="1200" b="1" dirty="0"/>
              <a:t>LLM</a:t>
            </a:r>
            <a:r>
              <a:rPr lang="ko-KR" altLang="en-US" sz="1200" b="1" dirty="0"/>
              <a:t>에 대한 인원 배정이 필요함</a:t>
            </a:r>
            <a:endParaRPr lang="en-US" altLang="ko-KR" sz="1200" b="1" dirty="0"/>
          </a:p>
          <a:p>
            <a:pPr marL="228600" indent="-228600">
              <a:buAutoNum type="arabicPeriod"/>
            </a:pPr>
            <a:endParaRPr lang="ko-KR" altLang="en-US" sz="1200" b="1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E10C495A-F3E4-92C2-68E9-D5923152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" y="4115143"/>
            <a:ext cx="6905595" cy="290541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2218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E9CE7F-D0EA-B2B8-71AA-8DB4F4BC7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19288"/>
              </p:ext>
            </p:extLst>
          </p:nvPr>
        </p:nvGraphicFramePr>
        <p:xfrm>
          <a:off x="0" y="0"/>
          <a:ext cx="12204000" cy="6857999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4390889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6219721"/>
                    </a:ext>
                  </a:extLst>
                </a:gridCol>
                <a:gridCol w="1207897">
                  <a:extLst>
                    <a:ext uri="{9D8B030D-6E8A-4147-A177-3AD203B41FA5}">
                      <a16:colId xmlns:a16="http://schemas.microsoft.com/office/drawing/2014/main" val="3078829798"/>
                    </a:ext>
                  </a:extLst>
                </a:gridCol>
                <a:gridCol w="5812103">
                  <a:extLst>
                    <a:ext uri="{9D8B030D-6E8A-4147-A177-3AD203B41FA5}">
                      <a16:colId xmlns:a16="http://schemas.microsoft.com/office/drawing/2014/main" val="231988802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698219071"/>
                    </a:ext>
                  </a:extLst>
                </a:gridCol>
              </a:tblGrid>
              <a:tr h="3172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역할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이름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담당업무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/>
                        <a:t>학습 로드맵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44221" marR="44221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/>
                        <a:t>추천 튜토리얼 링크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44221" marR="44221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572410"/>
                  </a:ext>
                </a:extLst>
              </a:tr>
              <a:tr h="107947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팀장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손민석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 dirty="0" err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mmWave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레이더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&amp;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센싱 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/>
                        <a:t>1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TI(Texas Instruments) </a:t>
                      </a:r>
                      <a:r>
                        <a:rPr lang="ko-KR" altLang="en-US" sz="1200" dirty="0"/>
                        <a:t>등 레이더 센서 제조사의 공식 </a:t>
                      </a:r>
                      <a:r>
                        <a:rPr lang="en-US" altLang="ko-KR" sz="1200" dirty="0"/>
                        <a:t>SDK </a:t>
                      </a:r>
                      <a:r>
                        <a:rPr lang="ko-KR" altLang="en-US" sz="1200" dirty="0"/>
                        <a:t>및 데이터시트 분석</a:t>
                      </a:r>
                    </a:p>
                    <a:p>
                      <a:r>
                        <a:rPr lang="en-US" altLang="ko-KR" sz="1200" b="1" dirty="0"/>
                        <a:t>2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센서</a:t>
                      </a:r>
                      <a:r>
                        <a:rPr lang="en-US" altLang="ko-KR" sz="1200" dirty="0"/>
                        <a:t>-PC </a:t>
                      </a:r>
                      <a:r>
                        <a:rPr lang="ko-KR" altLang="en-US" sz="1200" dirty="0"/>
                        <a:t>간 시리얼 통신 연결 및 데이터 수집용 파이썬 스크립트 작성</a:t>
                      </a:r>
                    </a:p>
                    <a:p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수신된 데이터를 </a:t>
                      </a:r>
                      <a:r>
                        <a:rPr lang="en-US" altLang="ko-KR" sz="1200" dirty="0"/>
                        <a:t>4D </a:t>
                      </a:r>
                      <a:r>
                        <a:rPr lang="ko-KR" altLang="en-US" sz="1200" dirty="0"/>
                        <a:t>포인트 클라우드</a:t>
                      </a:r>
                      <a:r>
                        <a:rPr lang="en-US" altLang="ko-KR" sz="1200" dirty="0"/>
                        <a:t>(x, y, z, </a:t>
                      </a:r>
                      <a:r>
                        <a:rPr lang="ko-KR" altLang="en-US" sz="1200" dirty="0"/>
                        <a:t>속도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형태로 파싱</a:t>
                      </a:r>
                      <a:r>
                        <a:rPr lang="en-US" altLang="ko-KR" sz="1200" dirty="0"/>
                        <a:t>(Parsing)</a:t>
                      </a:r>
                    </a:p>
                    <a:p>
                      <a:r>
                        <a:rPr lang="en-US" altLang="ko-KR" sz="1200" b="1" dirty="0"/>
                        <a:t>4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파싱된</a:t>
                      </a:r>
                      <a:r>
                        <a:rPr lang="ko-KR" altLang="en-US" sz="1200" dirty="0"/>
                        <a:t> 데이터를 </a:t>
                      </a:r>
                      <a:r>
                        <a:rPr lang="en-US" altLang="ko-KR" sz="1200" dirty="0"/>
                        <a:t>3D </a:t>
                      </a:r>
                      <a:r>
                        <a:rPr lang="ko-KR" altLang="en-US" sz="1200" dirty="0"/>
                        <a:t>그래프</a:t>
                      </a:r>
                      <a:r>
                        <a:rPr lang="en-US" altLang="ko-KR" sz="1200" dirty="0"/>
                        <a:t>(matplotlib, open3d </a:t>
                      </a:r>
                      <a:r>
                        <a:rPr lang="ko-KR" altLang="en-US" sz="1200" dirty="0"/>
                        <a:t>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로 실시간 시각화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hlinkClick r:id="rId2"/>
                        </a:rPr>
                        <a:t>TI </a:t>
                      </a:r>
                      <a:r>
                        <a:rPr lang="en-US" altLang="ko-KR" sz="1200" dirty="0" err="1">
                          <a:hlinkClick r:id="rId2"/>
                        </a:rPr>
                        <a:t>mmWave</a:t>
                      </a:r>
                      <a:r>
                        <a:rPr lang="en-US" altLang="ko-KR" sz="1200" dirty="0">
                          <a:hlinkClick r:id="rId2"/>
                        </a:rPr>
                        <a:t> Training Series (</a:t>
                      </a:r>
                      <a:r>
                        <a:rPr lang="ko-KR" altLang="en-US" sz="1200" dirty="0">
                          <a:hlinkClick r:id="rId2"/>
                        </a:rPr>
                        <a:t>공식</a:t>
                      </a:r>
                      <a:r>
                        <a:rPr lang="en-US" altLang="ko-KR" sz="1200" dirty="0">
                          <a:hlinkClick r:id="rId2"/>
                        </a:rPr>
                        <a:t>)</a:t>
                      </a:r>
                      <a:endParaRPr lang="ko-KR" altLang="en-US" sz="1200" dirty="0"/>
                    </a:p>
                    <a:p>
                      <a:r>
                        <a:rPr lang="ko-KR" altLang="en-US" sz="1200" dirty="0"/>
                        <a:t>유튜브 </a:t>
                      </a:r>
                      <a:r>
                        <a:rPr lang="en-US" altLang="ko-KR" sz="1200" dirty="0"/>
                        <a:t>"MathWorks Radar System Design" </a:t>
                      </a:r>
                      <a:r>
                        <a:rPr lang="ko-KR" altLang="en-US" sz="1200" dirty="0"/>
                        <a:t>기초 영상</a:t>
                      </a:r>
                    </a:p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796114"/>
                  </a:ext>
                </a:extLst>
              </a:tr>
              <a:tr h="146060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서승원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신호처리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Feature Extraction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/>
                        <a:t>1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파이썬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SciPy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ko-KR" altLang="en-US" sz="1200" dirty="0"/>
                        <a:t>를 활용한 기초 신호 처리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필터링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푸리에 변환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복습</a:t>
                      </a:r>
                    </a:p>
                    <a:p>
                      <a:r>
                        <a:rPr lang="en-US" altLang="ko-KR" sz="1200" b="1" dirty="0"/>
                        <a:t>2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EMI </a:t>
                      </a:r>
                      <a:r>
                        <a:rPr lang="ko-KR" altLang="en-US" sz="1200" dirty="0"/>
                        <a:t>대응형 적응형 필터</a:t>
                      </a:r>
                      <a:r>
                        <a:rPr lang="en-US" altLang="ko-KR" sz="1200" dirty="0"/>
                        <a:t>(LMS/RLS </a:t>
                      </a:r>
                      <a:r>
                        <a:rPr lang="ko-KR" altLang="en-US" sz="1200" dirty="0"/>
                        <a:t>알고리즘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이론 학습 및 파이썬 코드 구현</a:t>
                      </a:r>
                    </a:p>
                    <a:p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고속 푸리에 변환</a:t>
                      </a:r>
                      <a:r>
                        <a:rPr lang="en-US" altLang="ko-KR" sz="1200" dirty="0"/>
                        <a:t>(FFT) </a:t>
                      </a:r>
                      <a:r>
                        <a:rPr lang="ko-KR" altLang="en-US" sz="1200" dirty="0"/>
                        <a:t>기반 위상</a:t>
                      </a:r>
                      <a:r>
                        <a:rPr lang="en-US" altLang="ko-KR" sz="1200" dirty="0"/>
                        <a:t>(Phase) </a:t>
                      </a:r>
                      <a:r>
                        <a:rPr lang="ko-KR" altLang="en-US" sz="1200" dirty="0"/>
                        <a:t>추출 로직 작성</a:t>
                      </a:r>
                    </a:p>
                    <a:p>
                      <a:r>
                        <a:rPr lang="en-US" altLang="ko-KR" sz="1200" b="1" dirty="0"/>
                        <a:t>4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레이더 원시 데이터에서 노이즈를 제거하고 타겟 피처</a:t>
                      </a:r>
                      <a:r>
                        <a:rPr lang="en-US" altLang="ko-KR" sz="1200" dirty="0"/>
                        <a:t>(Feature)</a:t>
                      </a:r>
                      <a:r>
                        <a:rPr lang="ko-KR" altLang="en-US" sz="1200" dirty="0"/>
                        <a:t>만 추출하는 파이프라인 완성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파이썬 공식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SciPy</a:t>
                      </a:r>
                      <a:r>
                        <a:rPr lang="en-US" altLang="ko-KR" sz="1200" dirty="0"/>
                        <a:t> Signal Processing </a:t>
                      </a:r>
                      <a:r>
                        <a:rPr lang="ko-KR" altLang="en-US" sz="1200" dirty="0"/>
                        <a:t>문서</a:t>
                      </a:r>
                    </a:p>
                    <a:p>
                      <a:r>
                        <a:rPr lang="ko-KR" altLang="en-US" sz="1200" dirty="0"/>
                        <a:t>유튜브 </a:t>
                      </a:r>
                      <a:r>
                        <a:rPr lang="en-US" altLang="ko-KR" sz="1200" dirty="0"/>
                        <a:t>"Python for Signal Processing" </a:t>
                      </a:r>
                      <a:r>
                        <a:rPr lang="ko-KR" altLang="en-US" sz="1200" dirty="0"/>
                        <a:t>관련 대학 강의 영상</a:t>
                      </a:r>
                    </a:p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36145"/>
                  </a:ext>
                </a:extLst>
              </a:tr>
              <a:tr h="1270043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홍성준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AI / </a:t>
                      </a: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이상행동 </a:t>
                      </a:r>
                      <a:r>
                        <a:rPr lang="en-US" altLang="ko-KR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+ </a:t>
                      </a: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예지보전 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/>
                        <a:t>1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 err="1"/>
                        <a:t>PyTorch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설치 및 딥러닝 </a:t>
                      </a:r>
                      <a:r>
                        <a:rPr lang="ko-KR" altLang="en-US" sz="1200" dirty="0" err="1"/>
                        <a:t>텐서</a:t>
                      </a:r>
                      <a:r>
                        <a:rPr lang="en-US" altLang="ko-KR" sz="1200" dirty="0"/>
                        <a:t>(Tensor) </a:t>
                      </a:r>
                      <a:r>
                        <a:rPr lang="ko-KR" altLang="en-US" sz="1200" dirty="0"/>
                        <a:t>조작 기초 학습</a:t>
                      </a:r>
                    </a:p>
                    <a:p>
                      <a:r>
                        <a:rPr lang="en-US" altLang="ko-KR" sz="1200" b="1" dirty="0"/>
                        <a:t>2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시계열 데이터 처리를 위한 </a:t>
                      </a:r>
                      <a:r>
                        <a:rPr lang="en-US" altLang="ko-KR" sz="1200" dirty="0"/>
                        <a:t>RNN/LSTM </a:t>
                      </a:r>
                      <a:r>
                        <a:rPr lang="ko-KR" altLang="en-US" sz="1200" dirty="0"/>
                        <a:t>네트워크 구조 이해 및 장난감</a:t>
                      </a:r>
                      <a:r>
                        <a:rPr lang="en-US" altLang="ko-KR" sz="1200" dirty="0"/>
                        <a:t>(Toy) </a:t>
                      </a:r>
                      <a:r>
                        <a:rPr lang="ko-KR" altLang="en-US" sz="1200" dirty="0"/>
                        <a:t>데이터 학습</a:t>
                      </a:r>
                    </a:p>
                    <a:p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정상 데이터만으로 학습하는 비지도 학습</a:t>
                      </a:r>
                      <a:r>
                        <a:rPr lang="en-US" altLang="ko-KR" sz="1200" dirty="0"/>
                        <a:t>(Autoencoder) </a:t>
                      </a:r>
                      <a:r>
                        <a:rPr lang="ko-KR" altLang="en-US" sz="1200" dirty="0"/>
                        <a:t>개념 확립</a:t>
                      </a:r>
                    </a:p>
                    <a:p>
                      <a:r>
                        <a:rPr lang="en-US" altLang="ko-KR" sz="1200" b="1" dirty="0"/>
                        <a:t>4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LSTM-Autoencoder </a:t>
                      </a:r>
                      <a:r>
                        <a:rPr lang="ko-KR" altLang="en-US" sz="1200" dirty="0"/>
                        <a:t>구조를 코드로 구현하고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재구성 오차</a:t>
                      </a:r>
                      <a:r>
                        <a:rPr lang="en-US" altLang="ko-KR" sz="1200" dirty="0"/>
                        <a:t>(Reconstruction Error) </a:t>
                      </a:r>
                      <a:r>
                        <a:rPr lang="ko-KR" altLang="en-US" sz="1200" dirty="0"/>
                        <a:t>기반 임계치 설정 테스트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유튜브 </a:t>
                      </a:r>
                      <a:r>
                        <a:rPr lang="en-US" altLang="ko-KR" sz="1200" dirty="0"/>
                        <a:t>"</a:t>
                      </a:r>
                      <a:r>
                        <a:rPr lang="en-US" altLang="ko-KR" sz="1200" dirty="0" err="1"/>
                        <a:t>PyTorch</a:t>
                      </a:r>
                      <a:r>
                        <a:rPr lang="en-US" altLang="ko-KR" sz="1200" dirty="0"/>
                        <a:t> Time Series Forecasting" (LSTM </a:t>
                      </a:r>
                      <a:r>
                        <a:rPr lang="ko-KR" altLang="en-US" sz="1200" dirty="0"/>
                        <a:t>기반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r>
                        <a:rPr lang="ko-KR" altLang="en-US" sz="1200" dirty="0"/>
                        <a:t>블로그</a:t>
                      </a:r>
                      <a:r>
                        <a:rPr lang="en-US" altLang="ko-KR" sz="1200" dirty="0"/>
                        <a:t>/Kaggle "Time Series Anomaly Detection with Autoencoders" </a:t>
                      </a:r>
                      <a:r>
                        <a:rPr lang="ko-KR" altLang="en-US" sz="1200" dirty="0"/>
                        <a:t>실습 예제</a:t>
                      </a:r>
                    </a:p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54580"/>
                  </a:ext>
                </a:extLst>
              </a:tr>
              <a:tr h="146060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윤재국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제어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통신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전력 시스템 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/>
                        <a:t>1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RS-485 </a:t>
                      </a:r>
                      <a:r>
                        <a:rPr lang="ko-KR" altLang="en-US" sz="1200" dirty="0"/>
                        <a:t>통신 및 </a:t>
                      </a:r>
                      <a:r>
                        <a:rPr lang="en-US" altLang="ko-KR" sz="1200" dirty="0"/>
                        <a:t>Modbus </a:t>
                      </a:r>
                      <a:r>
                        <a:rPr lang="ko-KR" altLang="en-US" sz="1200" dirty="0"/>
                        <a:t>프로토콜</a:t>
                      </a:r>
                      <a:r>
                        <a:rPr lang="en-US" altLang="ko-KR" sz="1200" dirty="0"/>
                        <a:t>(RTU/TCP)</a:t>
                      </a:r>
                      <a:r>
                        <a:rPr lang="ko-KR" altLang="en-US" sz="1200" dirty="0"/>
                        <a:t>의 프레임 구조 이론 학습</a:t>
                      </a:r>
                    </a:p>
                    <a:p>
                      <a:r>
                        <a:rPr lang="en-US" altLang="ko-KR" sz="1200" b="1" dirty="0"/>
                        <a:t>2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파이썬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pymodbus</a:t>
                      </a:r>
                      <a:r>
                        <a:rPr lang="ko-KR" altLang="en-US" sz="1200" dirty="0"/>
                        <a:t> 라이브러리를 활용한 가상 </a:t>
                      </a:r>
                      <a:r>
                        <a:rPr lang="ko-KR" altLang="en-US" sz="1200" dirty="0" err="1"/>
                        <a:t>슬레이브</a:t>
                      </a:r>
                      <a:r>
                        <a:rPr lang="en-US" altLang="ko-KR" sz="1200" dirty="0"/>
                        <a:t>(Slave) </a:t>
                      </a:r>
                      <a:r>
                        <a:rPr lang="ko-KR" altLang="en-US" sz="1200" dirty="0"/>
                        <a:t>기기 통신 테스트</a:t>
                      </a:r>
                    </a:p>
                    <a:p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Jetson Orin Nano</a:t>
                      </a:r>
                      <a:r>
                        <a:rPr lang="ko-KR" altLang="en-US" sz="1200" dirty="0"/>
                        <a:t>의 </a:t>
                      </a:r>
                      <a:r>
                        <a:rPr lang="en-US" altLang="ko-KR" sz="1200" dirty="0"/>
                        <a:t>GPIO/</a:t>
                      </a:r>
                      <a:r>
                        <a:rPr lang="ko-KR" altLang="en-US" sz="1200" dirty="0"/>
                        <a:t>시리얼 포트를 활용한 하드웨어 릴레이</a:t>
                      </a:r>
                      <a:r>
                        <a:rPr lang="en-US" altLang="ko-KR" sz="1200" dirty="0"/>
                        <a:t>(Relay) </a:t>
                      </a:r>
                      <a:r>
                        <a:rPr lang="ko-KR" altLang="en-US" sz="1200" dirty="0"/>
                        <a:t>모듈 제어 테스트</a:t>
                      </a:r>
                    </a:p>
                    <a:p>
                      <a:r>
                        <a:rPr lang="en-US" altLang="ko-KR" sz="1200" b="1" dirty="0"/>
                        <a:t>4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위험 신호 수신 시 즉각적으로 차단기 제어 명령을 송출하는 비동기 통신 로직 구현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유튜브 </a:t>
                      </a:r>
                      <a:r>
                        <a:rPr lang="en-US" altLang="ko-KR" sz="1200" dirty="0"/>
                        <a:t>"Python Modbus RTU Tutorial"</a:t>
                      </a:r>
                    </a:p>
                    <a:p>
                      <a:r>
                        <a:rPr lang="en-US" altLang="ko-KR" sz="1200" dirty="0"/>
                        <a:t>Jetson Nano </a:t>
                      </a:r>
                      <a:r>
                        <a:rPr lang="ko-KR" altLang="en-US" sz="1200" dirty="0"/>
                        <a:t>공식 </a:t>
                      </a:r>
                      <a:r>
                        <a:rPr lang="en-US" altLang="ko-KR" sz="1200" dirty="0"/>
                        <a:t>GPIO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Serial Communication </a:t>
                      </a:r>
                      <a:r>
                        <a:rPr lang="ko-KR" altLang="en-US" sz="1200" dirty="0"/>
                        <a:t>가이드</a:t>
                      </a:r>
                    </a:p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067549"/>
                  </a:ext>
                </a:extLst>
              </a:tr>
              <a:tr h="1270043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팀원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홍유빈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시스템 통합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/ UI / RAG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담당</a:t>
                      </a: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/>
                        <a:t>1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Docker</a:t>
                      </a:r>
                      <a:r>
                        <a:rPr lang="ko-KR" altLang="en-US" sz="1200" dirty="0"/>
                        <a:t>를 활용한 로컬 환경 내 </a:t>
                      </a:r>
                      <a:r>
                        <a:rPr lang="en-US" altLang="ko-KR" sz="1200" dirty="0"/>
                        <a:t>PostgreSQL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pgvector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익스텐션</a:t>
                      </a:r>
                      <a:r>
                        <a:rPr lang="ko-KR" altLang="en-US" sz="1200" dirty="0"/>
                        <a:t> 설치</a:t>
                      </a:r>
                    </a:p>
                    <a:p>
                      <a:r>
                        <a:rPr lang="en-US" altLang="ko-KR" sz="1200" b="1" dirty="0"/>
                        <a:t>2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OpenAI API </a:t>
                      </a:r>
                      <a:r>
                        <a:rPr lang="ko-KR" altLang="en-US" sz="1200" dirty="0"/>
                        <a:t>키 발급 및 </a:t>
                      </a:r>
                      <a:r>
                        <a:rPr lang="en-US" altLang="ko-KR" sz="1200" dirty="0" err="1"/>
                        <a:t>LangChain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기초 작동 원리</a:t>
                      </a:r>
                      <a:r>
                        <a:rPr lang="en-US" altLang="ko-KR" sz="1200" dirty="0"/>
                        <a:t>(Prompt, Chain) </a:t>
                      </a:r>
                      <a:r>
                        <a:rPr lang="ko-KR" altLang="en-US" sz="1200" dirty="0"/>
                        <a:t>학습</a:t>
                      </a:r>
                    </a:p>
                    <a:p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PDF/</a:t>
                      </a:r>
                      <a:r>
                        <a:rPr lang="ko-KR" altLang="en-US" sz="1200" dirty="0"/>
                        <a:t>텍스트 형태의 안전 매뉴얼을 </a:t>
                      </a:r>
                      <a:r>
                        <a:rPr lang="ko-KR" altLang="en-US" sz="1200" dirty="0" err="1"/>
                        <a:t>청킹</a:t>
                      </a:r>
                      <a:r>
                        <a:rPr lang="en-US" altLang="ko-KR" sz="1200" dirty="0"/>
                        <a:t>(Chunking)</a:t>
                      </a:r>
                      <a:r>
                        <a:rPr lang="ko-KR" altLang="en-US" sz="1200" dirty="0"/>
                        <a:t>하여 </a:t>
                      </a:r>
                      <a:r>
                        <a:rPr lang="en-US" altLang="ko-KR" sz="1200" dirty="0"/>
                        <a:t>Vector DB</a:t>
                      </a:r>
                      <a:r>
                        <a:rPr lang="ko-KR" altLang="en-US" sz="1200" dirty="0"/>
                        <a:t>에 적재하는 실습</a:t>
                      </a:r>
                    </a:p>
                    <a:p>
                      <a:r>
                        <a:rPr lang="en-US" altLang="ko-KR" sz="1200" b="1" dirty="0"/>
                        <a:t>4</a:t>
                      </a:r>
                      <a:r>
                        <a:rPr lang="ko-KR" altLang="en-US" sz="1200" b="1" dirty="0"/>
                        <a:t>주 차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 err="1"/>
                        <a:t>Streamlit</a:t>
                      </a:r>
                      <a:r>
                        <a:rPr lang="ko-KR" altLang="en-US" sz="1200" dirty="0"/>
                        <a:t>을 활용하여 센서 상태 모니터링 및 </a:t>
                      </a:r>
                      <a:r>
                        <a:rPr lang="en-US" altLang="ko-KR" sz="1200" dirty="0"/>
                        <a:t>RAG </a:t>
                      </a:r>
                      <a:r>
                        <a:rPr lang="ko-KR" altLang="en-US" sz="1200" dirty="0"/>
                        <a:t>기반 조치 가이드를 띄우는 통합 대시보드 화면 스케치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유튜브 </a:t>
                      </a:r>
                      <a:r>
                        <a:rPr lang="en-US" altLang="ko-KR" sz="1200" dirty="0"/>
                        <a:t>"</a:t>
                      </a:r>
                      <a:r>
                        <a:rPr lang="ko-KR" altLang="en-US" sz="1200" dirty="0" err="1"/>
                        <a:t>테디노트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랭체인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LangChain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튜토리얼</a:t>
                      </a:r>
                      <a:r>
                        <a:rPr lang="en-US" altLang="ko-KR" sz="1200" dirty="0"/>
                        <a:t>"</a:t>
                      </a:r>
                    </a:p>
                    <a:p>
                      <a:r>
                        <a:rPr lang="en-US" altLang="ko-KR" sz="1200" dirty="0" err="1"/>
                        <a:t>LangChain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공식 문서 </a:t>
                      </a:r>
                      <a:r>
                        <a:rPr lang="en-US" altLang="ko-KR" sz="1200" dirty="0"/>
                        <a:t>(Q&amp;A with RAG </a:t>
                      </a:r>
                      <a:r>
                        <a:rPr lang="ko-KR" altLang="en-US" sz="1200" dirty="0"/>
                        <a:t>섹션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algn="ctr" fontAlgn="ctr" latinLnBrk="1">
                        <a:buNone/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60773" marR="60773" marT="60773" marB="60773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73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89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4951-18EF-8A30-74AA-98AEF77D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416558-FED7-7262-74F8-B5C9433A0B3A}"/>
              </a:ext>
            </a:extLst>
          </p:cNvPr>
          <p:cNvSpPr txBox="1"/>
          <p:nvPr/>
        </p:nvSpPr>
        <p:spPr>
          <a:xfrm>
            <a:off x="0" y="0"/>
            <a:ext cx="11597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주요업무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실습장비 신청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37F46-ABE9-6539-9EC8-89EC5FFED864}"/>
              </a:ext>
            </a:extLst>
          </p:cNvPr>
          <p:cNvSpPr txBox="1"/>
          <p:nvPr/>
        </p:nvSpPr>
        <p:spPr>
          <a:xfrm>
            <a:off x="8790039" y="0"/>
            <a:ext cx="3401961" cy="175432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dirty="0"/>
              <a:t>4</a:t>
            </a:r>
            <a:r>
              <a:rPr lang="ko-KR" altLang="en-US" sz="1200" dirty="0"/>
              <a:t>월 지원제도 신청</a:t>
            </a:r>
            <a:r>
              <a:rPr lang="en-US" altLang="ko-KR" sz="1200" dirty="0"/>
              <a:t>&amp;</a:t>
            </a:r>
            <a:r>
              <a:rPr lang="ko-KR" altLang="en-US" sz="1200" dirty="0"/>
              <a:t>심의 안내</a:t>
            </a:r>
          </a:p>
          <a:p>
            <a:pPr>
              <a:buNone/>
            </a:pPr>
            <a:r>
              <a:rPr lang="ko-KR" altLang="en-US" sz="1200" dirty="0"/>
              <a:t>○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차 신청 접수 </a:t>
            </a:r>
            <a:r>
              <a:rPr lang="en-US" altLang="ko-KR" sz="1200" dirty="0">
                <a:solidFill>
                  <a:srgbClr val="FF0000"/>
                </a:solidFill>
              </a:rPr>
              <a:t>: 4/1(</a:t>
            </a:r>
            <a:r>
              <a:rPr lang="ko-KR" altLang="en-US" sz="1200" dirty="0">
                <a:solidFill>
                  <a:srgbClr val="FF0000"/>
                </a:solidFill>
              </a:rPr>
              <a:t>수</a:t>
            </a:r>
            <a:r>
              <a:rPr lang="en-US" altLang="ko-KR" sz="1200" dirty="0">
                <a:solidFill>
                  <a:srgbClr val="FF0000"/>
                </a:solidFill>
              </a:rPr>
              <a:t>) ~ 4/5(</a:t>
            </a:r>
            <a:r>
              <a:rPr lang="ko-KR" altLang="en-US" sz="1200" dirty="0">
                <a:solidFill>
                  <a:srgbClr val="FF0000"/>
                </a:solidFill>
              </a:rPr>
              <a:t>일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altLang="ko-KR" sz="1200" dirty="0"/>
              <a:t>  - </a:t>
            </a:r>
            <a:r>
              <a:rPr lang="ko-KR" altLang="en-US" sz="1200" dirty="0"/>
              <a:t>신청가능항목 </a:t>
            </a:r>
            <a:r>
              <a:rPr lang="en-US" altLang="ko-KR" sz="1200" dirty="0"/>
              <a:t>: HW(</a:t>
            </a:r>
            <a:r>
              <a:rPr lang="ko-KR" altLang="en-US" sz="1200" dirty="0"/>
              <a:t>심의</a:t>
            </a:r>
            <a:r>
              <a:rPr lang="en-US" altLang="ko-KR" sz="1200" dirty="0"/>
              <a:t>+</a:t>
            </a:r>
            <a:r>
              <a:rPr lang="ko-KR" altLang="en-US" sz="1200" dirty="0"/>
              <a:t>즉시지원</a:t>
            </a:r>
            <a:r>
              <a:rPr lang="en-US" altLang="ko-KR" sz="1200" dirty="0"/>
              <a:t>), S/W, </a:t>
            </a:r>
            <a:r>
              <a:rPr lang="ko-KR" altLang="en-US" sz="1200" dirty="0"/>
              <a:t>가공</a:t>
            </a:r>
            <a:r>
              <a:rPr lang="en-US" altLang="ko-KR" sz="1200" dirty="0"/>
              <a:t>, </a:t>
            </a:r>
            <a:r>
              <a:rPr lang="ko-KR" altLang="en-US" sz="1200" dirty="0"/>
              <a:t>온라인 교육</a:t>
            </a:r>
          </a:p>
          <a:p>
            <a:pPr>
              <a:buNone/>
            </a:pPr>
            <a:r>
              <a:rPr lang="ko-KR" altLang="en-US" sz="1200" dirty="0"/>
              <a:t>○ </a:t>
            </a:r>
            <a:r>
              <a:rPr lang="en-US" altLang="ko-KR" sz="1200" dirty="0"/>
              <a:t>1</a:t>
            </a:r>
            <a:r>
              <a:rPr lang="ko-KR" altLang="en-US" sz="1200" dirty="0"/>
              <a:t>차 심의 결과 발표 </a:t>
            </a:r>
            <a:r>
              <a:rPr lang="en-US" altLang="ko-KR" sz="1200" dirty="0"/>
              <a:t>: 4/10(</a:t>
            </a:r>
            <a:r>
              <a:rPr lang="ko-KR" altLang="en-US" sz="1200" dirty="0"/>
              <a:t>금</a:t>
            </a:r>
            <a:r>
              <a:rPr lang="en-US" altLang="ko-KR" sz="1200" dirty="0"/>
              <a:t>)</a:t>
            </a:r>
          </a:p>
          <a:p>
            <a:pPr>
              <a:buNone/>
            </a:pPr>
            <a:r>
              <a:rPr lang="en-US" altLang="ko-KR" sz="1200" dirty="0"/>
              <a:t>○ 2</a:t>
            </a:r>
            <a:r>
              <a:rPr lang="ko-KR" altLang="en-US" sz="1200" dirty="0"/>
              <a:t>차 신청 접수 </a:t>
            </a:r>
            <a:r>
              <a:rPr lang="en-US" altLang="ko-KR" sz="1200" dirty="0"/>
              <a:t>: 4/16(</a:t>
            </a:r>
            <a:r>
              <a:rPr lang="ko-KR" altLang="en-US" sz="1200" dirty="0"/>
              <a:t>목</a:t>
            </a:r>
            <a:r>
              <a:rPr lang="en-US" altLang="ko-KR" sz="1200" dirty="0"/>
              <a:t>) ~ 4/20(</a:t>
            </a:r>
            <a:r>
              <a:rPr lang="ko-KR" altLang="en-US" sz="1200" dirty="0"/>
              <a:t>월</a:t>
            </a:r>
            <a:r>
              <a:rPr lang="en-US" altLang="ko-KR" sz="1200" dirty="0"/>
              <a:t>)</a:t>
            </a:r>
          </a:p>
          <a:p>
            <a:pPr>
              <a:buNone/>
            </a:pPr>
            <a:r>
              <a:rPr lang="en-US" altLang="ko-KR" sz="1200" dirty="0"/>
              <a:t>  - </a:t>
            </a:r>
            <a:r>
              <a:rPr lang="ko-KR" altLang="en-US" sz="1200" dirty="0"/>
              <a:t>신청 가능 품목 </a:t>
            </a:r>
            <a:r>
              <a:rPr lang="en-US" altLang="ko-KR" sz="1200" dirty="0"/>
              <a:t>: HW(</a:t>
            </a:r>
            <a:r>
              <a:rPr lang="ko-KR" altLang="en-US" sz="1200" dirty="0"/>
              <a:t>즉시지원</a:t>
            </a:r>
            <a:r>
              <a:rPr lang="en-US" altLang="ko-KR" sz="1200" dirty="0"/>
              <a:t>), </a:t>
            </a:r>
            <a:r>
              <a:rPr lang="ko-KR" altLang="en-US" sz="1200" dirty="0"/>
              <a:t>클라우드</a:t>
            </a:r>
          </a:p>
          <a:p>
            <a:pPr>
              <a:buNone/>
            </a:pPr>
            <a:r>
              <a:rPr lang="ko-KR" altLang="en-US" sz="1200" dirty="0"/>
              <a:t>○ </a:t>
            </a:r>
            <a:r>
              <a:rPr lang="en-US" altLang="ko-KR" sz="1200" dirty="0"/>
              <a:t>2</a:t>
            </a:r>
            <a:r>
              <a:rPr lang="ko-KR" altLang="en-US" sz="1200" dirty="0"/>
              <a:t>차 심의 결과 발표 </a:t>
            </a:r>
            <a:r>
              <a:rPr lang="en-US" altLang="ko-KR" sz="1200" dirty="0"/>
              <a:t>: 4/21(</a:t>
            </a:r>
            <a:r>
              <a:rPr lang="ko-KR" altLang="en-US" sz="1200" dirty="0"/>
              <a:t>화</a:t>
            </a:r>
            <a:r>
              <a:rPr lang="en-US" altLang="ko-KR" sz="1200" dirty="0"/>
              <a:t>)</a:t>
            </a:r>
          </a:p>
          <a:p>
            <a:pPr>
              <a:buNone/>
            </a:pPr>
            <a:r>
              <a:rPr lang="en-US" altLang="ko-KR" sz="1200" dirty="0"/>
              <a:t>※ </a:t>
            </a:r>
            <a:r>
              <a:rPr lang="ko-KR" altLang="en-US" sz="1200" dirty="0"/>
              <a:t>지원제도 항목별 신청 가이드 참조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D594BF1-C0CF-E8F9-6FF5-C269B319A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750752"/>
              </p:ext>
            </p:extLst>
          </p:nvPr>
        </p:nvGraphicFramePr>
        <p:xfrm>
          <a:off x="47752" y="1056862"/>
          <a:ext cx="6048248" cy="4194112"/>
        </p:xfrm>
        <a:graphic>
          <a:graphicData uri="http://schemas.openxmlformats.org/drawingml/2006/table">
            <a:tbl>
              <a:tblPr/>
              <a:tblGrid>
                <a:gridCol w="1694307">
                  <a:extLst>
                    <a:ext uri="{9D8B030D-6E8A-4147-A177-3AD203B41FA5}">
                      <a16:colId xmlns:a16="http://schemas.microsoft.com/office/drawing/2014/main" val="1585744335"/>
                    </a:ext>
                  </a:extLst>
                </a:gridCol>
                <a:gridCol w="4353941">
                  <a:extLst>
                    <a:ext uri="{9D8B030D-6E8A-4147-A177-3AD203B41FA5}">
                      <a16:colId xmlns:a16="http://schemas.microsoft.com/office/drawing/2014/main" val="1302983065"/>
                    </a:ext>
                  </a:extLst>
                </a:gridCol>
              </a:tblGrid>
              <a:tr h="2875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품목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활용계획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015710"/>
                  </a:ext>
                </a:extLst>
              </a:tr>
              <a:tr h="18624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mmWave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레이더 센서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60GHz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대역의 전파를 송수신하여 작업자의 위치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동작뿐만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아니라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설비의 마이크로미터 단위 미세 진동을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4D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 클라우드로 획득하는 핵심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비접촉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센서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696009"/>
                  </a:ext>
                </a:extLst>
              </a:tr>
              <a:tr h="1862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 Jetson Orin Nano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현장에서의 포인트 클라우드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푸리에 변환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(FFT)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위상 분석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그리고 로컬 벡터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서버를 구동하는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엣지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연산 모듈</a:t>
                      </a:r>
                    </a:p>
                    <a:p>
                      <a:pPr marL="0" marR="0" indent="0" algn="just" fontAlgn="base" latinLnBrk="1">
                        <a:lnSpc>
                          <a:spcPct val="180000"/>
                        </a:lnSpc>
                        <a:buNone/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79271"/>
                  </a:ext>
                </a:extLst>
              </a:tr>
            </a:tbl>
          </a:graphicData>
        </a:graphic>
      </p:graphicFrame>
      <p:pic>
        <p:nvPicPr>
          <p:cNvPr id="3073" name="_x373212840">
            <a:extLst>
              <a:ext uri="{FF2B5EF4-FFF2-40B4-BE49-F238E27FC236}">
                <a16:creationId xmlns:a16="http://schemas.microsoft.com/office/drawing/2014/main" id="{EE60F387-4492-A6CE-D925-3FCA7B16C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76" y="1514076"/>
            <a:ext cx="1295400" cy="100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9BF975E8-A22B-123E-6A7C-37AD3F1C8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76" y="3382556"/>
            <a:ext cx="1259967" cy="100799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5588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0A6615A-21F3-FE82-8A73-3393429A8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596005"/>
              </p:ext>
            </p:extLst>
          </p:nvPr>
        </p:nvGraphicFramePr>
        <p:xfrm>
          <a:off x="0" y="-28219"/>
          <a:ext cx="10420905" cy="3457219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3386907305"/>
                    </a:ext>
                  </a:extLst>
                </a:gridCol>
                <a:gridCol w="2752905">
                  <a:extLst>
                    <a:ext uri="{9D8B030D-6E8A-4147-A177-3AD203B41FA5}">
                      <a16:colId xmlns:a16="http://schemas.microsoft.com/office/drawing/2014/main" val="32190525"/>
                    </a:ext>
                  </a:extLst>
                </a:gridCol>
                <a:gridCol w="7056000">
                  <a:extLst>
                    <a:ext uri="{9D8B030D-6E8A-4147-A177-3AD203B41FA5}">
                      <a16:colId xmlns:a16="http://schemas.microsoft.com/office/drawing/2014/main" val="1360950931"/>
                    </a:ext>
                  </a:extLst>
                </a:gridCol>
              </a:tblGrid>
              <a:tr h="1848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206524"/>
                  </a:ext>
                </a:extLst>
              </a:tr>
              <a:tr h="58774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FMCW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마이크로 도플러 위상 분석 엔진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레이더 신호 보정 및 시계열 복원 기술을 통해 설비 내부의 마이크로미터 단위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(μ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미세 진동을 실시간 계측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구역 내 핵심 설비의 마모도를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수치화하여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예지보전 기반의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무중단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안전망 구현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266225"/>
                  </a:ext>
                </a:extLst>
              </a:tr>
              <a:tr h="2862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하이브리드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대응 시스템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 시 벡터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SOP/MSDS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정보를 검색하여 조치 가이드 생성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322918"/>
                  </a:ext>
                </a:extLst>
              </a:tr>
              <a:tr h="4131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EMI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대응형 적응형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DSP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고압 변압기 등 주변 환경의 전자기 노이즈 패턴을 레퍼런스로 삼아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실시간으로 가중치를 업데이트하며 노이즈만 선택적으로 상쇄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198816"/>
                  </a:ext>
                </a:extLst>
              </a:tr>
              <a:tr h="4131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비지도 학습 기반 이상 징후 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Autoencoder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결합해 설비의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파형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학습한 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미등록 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 파형 유입 시 복원 오차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(MSE)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즉각적인 진단 경보 발생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287543"/>
                  </a:ext>
                </a:extLst>
              </a:tr>
              <a:tr h="286223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H/W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비접촉 레이더 센싱 플랫폼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mmWave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레이더를 활용하여 작업자의 위치 및 동작을 포인트 클라우드로 실시간 획득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910736"/>
                  </a:ext>
                </a:extLst>
              </a:tr>
              <a:tr h="4131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초고속 차단형 스마트 차단기 연동 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모델의 위험 임계치 초과 신호를 수신하여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즉각적이고 물리적인 전력 차단 및 부하 분리를 밀리초 단위로 수행해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대형 사고 원천 차단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94979"/>
                  </a:ext>
                </a:extLst>
              </a:tr>
              <a:tr h="2853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엣지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연산 인프라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Jetson Orin Nano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기반으로 현장 데이터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전처리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로컬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PostgreSQL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운영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920" marR="55920" marT="15460" marB="154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622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47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06B9CC4-57A0-9A9A-CF74-FEFC08966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67892"/>
              </p:ext>
            </p:extLst>
          </p:nvPr>
        </p:nvGraphicFramePr>
        <p:xfrm>
          <a:off x="0" y="0"/>
          <a:ext cx="8928000" cy="4533058"/>
        </p:xfrm>
        <a:graphic>
          <a:graphicData uri="http://schemas.openxmlformats.org/drawingml/2006/table">
            <a:tbl>
              <a:tblPr/>
              <a:tblGrid>
                <a:gridCol w="972000">
                  <a:extLst>
                    <a:ext uri="{9D8B030D-6E8A-4147-A177-3AD203B41FA5}">
                      <a16:colId xmlns:a16="http://schemas.microsoft.com/office/drawing/2014/main" val="1423560899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395486419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570592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8121134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2559766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6528063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68945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1551050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07069380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290169226"/>
                    </a:ext>
                  </a:extLst>
                </a:gridCol>
              </a:tblGrid>
              <a:tr h="18572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추진내용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추진일정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461573"/>
                  </a:ext>
                </a:extLst>
              </a:tr>
              <a:tr h="3696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-2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200" b="1" kern="0" spc="-23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8964" marR="68964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318688"/>
                  </a:ext>
                </a:extLst>
              </a:tr>
              <a:tr h="369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 현장 안전 요구사항 정의 및 적용 환경 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099016"/>
                  </a:ext>
                </a:extLst>
              </a:tr>
              <a:tr h="369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 재해 시나리오 분석 및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Radar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특성 분석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3805"/>
                  </a:ext>
                </a:extLst>
              </a:tr>
              <a:tr h="36962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mmWave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비접촉 센싱 시스템 아키텍처 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354291"/>
                  </a:ext>
                </a:extLst>
              </a:tr>
              <a:tr h="3012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처리 및 대응 매뉴얼 기반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설계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06391"/>
                  </a:ext>
                </a:extLst>
              </a:tr>
              <a:tr h="369628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Radar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작업자 이상 행동 탐지 알고리즘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98401"/>
                  </a:ext>
                </a:extLst>
              </a:tr>
              <a:tr h="3696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상태 모니터링 및 진동 분석 알고리즘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218245"/>
                  </a:ext>
                </a:extLst>
              </a:tr>
              <a:tr h="3696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 대응 에이전트 및 데이터 분석 시스템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313814"/>
                  </a:ext>
                </a:extLst>
              </a:tr>
              <a:tr h="3696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 안전 관제 대시보드 및 시각화 시스템 개발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016078"/>
                  </a:ext>
                </a:extLst>
              </a:tr>
              <a:tr h="3012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모의 현장 환경 기반 이상 탐지 및 시스템 검증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767117"/>
                  </a:ext>
                </a:extLst>
              </a:tr>
              <a:tr h="3012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결과 정리 및 성과지표 도출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20923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오프라인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미팅계획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기술 세미나 및 멘토링 진행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dirty="0">
                        <a:effectLst/>
                      </a:endParaRPr>
                    </a:p>
                  </a:txBody>
                  <a:tcPr marL="48849" marR="48849" marT="13505" marB="1350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17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77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8847-7D63-E946-9563-746B8A32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F18E47-6300-7CB4-1E43-FFF4DAA81A6C}"/>
              </a:ext>
            </a:extLst>
          </p:cNvPr>
          <p:cNvSpPr txBox="1"/>
          <p:nvPr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https://www.hanium.or.kr/intranet/teamBlog/eqpmntAply/eqpmntAplyListView.do?pjtSn=23063&amp;year=2026&amp;pjtAplyYear=2026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80141D-9215-EB10-EA69-9EC0DB45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610"/>
            <a:ext cx="9255540" cy="4123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262282-6D6D-F81B-EEB0-FF53534B42A9}"/>
              </a:ext>
            </a:extLst>
          </p:cNvPr>
          <p:cNvSpPr txBox="1"/>
          <p:nvPr/>
        </p:nvSpPr>
        <p:spPr>
          <a:xfrm>
            <a:off x="-1" y="4799441"/>
            <a:ext cx="10323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3"/>
              </a:rPr>
              <a:t>https://www.notion.so/hanium-notice/2026-2f16ab1a84558013b85efc6d15d56179</a:t>
            </a:r>
            <a:endParaRPr lang="en-US" altLang="ko-KR" sz="1200" dirty="0"/>
          </a:p>
          <a:p>
            <a:r>
              <a:rPr lang="ko-KR" altLang="en-US" sz="1200" dirty="0" err="1"/>
              <a:t>한이음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드림업</a:t>
            </a:r>
            <a:r>
              <a:rPr lang="ko-KR" altLang="en-US" sz="1200" dirty="0"/>
              <a:t> 사업 수행 매뉴얼</a:t>
            </a:r>
          </a:p>
        </p:txBody>
      </p:sp>
    </p:spTree>
    <p:extLst>
      <p:ext uri="{BB962C8B-B14F-4D97-AF65-F5344CB8AC3E}">
        <p14:creationId xmlns:p14="http://schemas.microsoft.com/office/powerpoint/2010/main" val="2424905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1240</Words>
  <Application>Microsoft Office PowerPoint</Application>
  <PresentationFormat>와이드스크린</PresentationFormat>
  <Paragraphs>166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inherit</vt:lpstr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임영준</dc:creator>
  <cp:lastModifiedBy>onelu</cp:lastModifiedBy>
  <cp:revision>28</cp:revision>
  <dcterms:created xsi:type="dcterms:W3CDTF">2026-01-31T06:13:14Z</dcterms:created>
  <dcterms:modified xsi:type="dcterms:W3CDTF">2026-04-05T08:55:38Z</dcterms:modified>
</cp:coreProperties>
</file>